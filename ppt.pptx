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29"/>
  </p:notesMasterIdLst>
  <p:sldIdLst>
    <p:sldId id="256" r:id="rId2"/>
    <p:sldId id="287" r:id="rId3"/>
    <p:sldId id="258" r:id="rId4"/>
    <p:sldId id="272" r:id="rId5"/>
    <p:sldId id="274" r:id="rId6"/>
    <p:sldId id="297" r:id="rId7"/>
    <p:sldId id="278" r:id="rId8"/>
    <p:sldId id="304" r:id="rId9"/>
    <p:sldId id="276" r:id="rId10"/>
    <p:sldId id="298" r:id="rId11"/>
    <p:sldId id="277" r:id="rId12"/>
    <p:sldId id="307" r:id="rId13"/>
    <p:sldId id="280" r:id="rId14"/>
    <p:sldId id="294" r:id="rId15"/>
    <p:sldId id="303" r:id="rId16"/>
    <p:sldId id="306" r:id="rId17"/>
    <p:sldId id="308" r:id="rId18"/>
    <p:sldId id="309" r:id="rId19"/>
    <p:sldId id="310" r:id="rId20"/>
    <p:sldId id="311" r:id="rId21"/>
    <p:sldId id="312" r:id="rId22"/>
    <p:sldId id="313" r:id="rId23"/>
    <p:sldId id="315" r:id="rId24"/>
    <p:sldId id="314" r:id="rId25"/>
    <p:sldId id="316" r:id="rId26"/>
    <p:sldId id="286" r:id="rId27"/>
    <p:sldId id="288" r:id="rId28"/>
  </p:sldIdLst>
  <p:sldSz cx="12192000" cy="6858000"/>
  <p:notesSz cx="6705600" cy="89916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018F8-684C-4949-AFBB-6D3B47F987D8}"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showGuides="1">
      <p:cViewPr varScale="1">
        <p:scale>
          <a:sx n="84" d="100"/>
          <a:sy n="84" d="100"/>
        </p:scale>
        <p:origin x="648"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05760" cy="451142"/>
          </a:xfrm>
          <a:prstGeom prst="rect">
            <a:avLst/>
          </a:prstGeom>
          <a:noFill/>
          <a:ln>
            <a:noFill/>
          </a:ln>
        </p:spPr>
        <p:txBody>
          <a:bodyPr spcFirstLastPara="1" wrap="square" lIns="89679" tIns="44827" rIns="89679" bIns="44827"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798288" y="0"/>
            <a:ext cx="2905760" cy="451142"/>
          </a:xfrm>
          <a:prstGeom prst="rect">
            <a:avLst/>
          </a:prstGeom>
          <a:noFill/>
          <a:ln>
            <a:noFill/>
          </a:ln>
        </p:spPr>
        <p:txBody>
          <a:bodyPr spcFirstLastPara="1" wrap="square" lIns="89679" tIns="44827" rIns="89679" bIns="44827"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lIns="89693" tIns="44847" rIns="89693" bIns="44847"/>
          <a:lstStyle/>
          <a:p>
            <a:endParaRPr lang="en-IN"/>
          </a:p>
        </p:txBody>
      </p:sp>
      <p:sp>
        <p:nvSpPr>
          <p:cNvPr id="6" name="Google Shape;6;n"/>
          <p:cNvSpPr txBox="1">
            <a:spLocks noGrp="1"/>
          </p:cNvSpPr>
          <p:nvPr>
            <p:ph type="body" idx="1"/>
          </p:nvPr>
        </p:nvSpPr>
        <p:spPr>
          <a:xfrm>
            <a:off x="670560" y="4327207"/>
            <a:ext cx="5364480" cy="3540443"/>
          </a:xfrm>
          <a:prstGeom prst="rect">
            <a:avLst/>
          </a:prstGeom>
          <a:noFill/>
          <a:ln>
            <a:noFill/>
          </a:ln>
        </p:spPr>
        <p:txBody>
          <a:bodyPr spcFirstLastPara="1" wrap="square" lIns="89679" tIns="44827" rIns="89679" bIns="44827"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540460"/>
            <a:ext cx="2905760" cy="451141"/>
          </a:xfrm>
          <a:prstGeom prst="rect">
            <a:avLst/>
          </a:prstGeom>
          <a:noFill/>
          <a:ln>
            <a:noFill/>
          </a:ln>
        </p:spPr>
        <p:txBody>
          <a:bodyPr spcFirstLastPara="1" wrap="square" lIns="89679" tIns="44827" rIns="89679" bIns="44827"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798288" y="8540460"/>
            <a:ext cx="2905760" cy="451141"/>
          </a:xfrm>
          <a:prstGeom prst="rect">
            <a:avLst/>
          </a:prstGeom>
          <a:noFill/>
          <a:ln>
            <a:noFill/>
          </a:ln>
        </p:spPr>
        <p:txBody>
          <a:bodyPr spcFirstLastPara="1" wrap="square" lIns="89679" tIns="44827" rIns="89679" bIns="44827" anchor="b" anchorCtr="0">
            <a:noAutofit/>
          </a:bodyPr>
          <a:lstStyle/>
          <a:p>
            <a:pPr algn="r"/>
            <a:fld id="{00000000-1234-1234-1234-123412341234}" type="slidenum">
              <a:rPr lang="en-US" sz="1200" smtClean="0">
                <a:solidFill>
                  <a:schemeClr val="dk1"/>
                </a:solidFill>
                <a:latin typeface="Calibri" panose="020F0502020204030204"/>
                <a:ea typeface="Calibri" panose="020F0502020204030204"/>
                <a:cs typeface="Calibri" panose="020F0502020204030204"/>
                <a:sym typeface="Calibri" panose="020F0502020204030204"/>
              </a:rPr>
              <a:pPr algn="r"/>
              <a:t>‹#›</a:t>
            </a:fld>
            <a:endParaRPr lang="en-US" sz="120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1: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102" name="Google Shape;102;p1:notes"/>
          <p:cNvSpPr txBox="1">
            <a:spLocks noGrp="1"/>
          </p:cNvSpPr>
          <p:nvPr>
            <p:ph type="body" idx="1"/>
          </p:nvPr>
        </p:nvSpPr>
        <p:spPr>
          <a:xfrm>
            <a:off x="670560" y="4327207"/>
            <a:ext cx="5364480" cy="3540443"/>
          </a:xfrm>
          <a:prstGeom prst="rect">
            <a:avLst/>
          </a:prstGeom>
          <a:noFill/>
          <a:ln>
            <a:noFill/>
          </a:ln>
        </p:spPr>
        <p:txBody>
          <a:bodyPr spcFirstLastPara="1" wrap="square" lIns="89679" tIns="44827" rIns="89679" bIns="44827" anchor="t" anchorCtr="0">
            <a:noAutofit/>
          </a:bodyPr>
          <a:lstStyle/>
          <a:p>
            <a:pPr marL="0" indent="0"/>
            <a:endParaRPr/>
          </a:p>
        </p:txBody>
      </p:sp>
      <p:sp>
        <p:nvSpPr>
          <p:cNvPr id="103" name="Google Shape;103;p1:notes"/>
          <p:cNvSpPr txBox="1">
            <a:spLocks noGrp="1"/>
          </p:cNvSpPr>
          <p:nvPr>
            <p:ph type="sldNum" idx="12"/>
          </p:nvPr>
        </p:nvSpPr>
        <p:spPr>
          <a:xfrm>
            <a:off x="3798288" y="8540460"/>
            <a:ext cx="2905760" cy="451141"/>
          </a:xfrm>
          <a:prstGeom prst="rect">
            <a:avLst/>
          </a:prstGeom>
          <a:noFill/>
          <a:ln>
            <a:noFill/>
          </a:ln>
        </p:spPr>
        <p:txBody>
          <a:bodyPr spcFirstLastPara="1" wrap="square" lIns="89679" tIns="44827" rIns="89679" bIns="44827" anchor="b" anchorCtr="0">
            <a:noAutofit/>
          </a:bodyPr>
          <a:lstStyle/>
          <a:p>
            <a:pPr algn="r"/>
            <a:fld id="{00000000-1234-1234-1234-123412341234}" type="slidenum">
              <a:rPr lang="en-US"/>
              <a:pPr algn="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2:notes"/>
          <p:cNvSpPr>
            <a:spLocks noGrp="1" noRot="1" noChangeAspect="1"/>
          </p:cNvSpPr>
          <p:nvPr>
            <p:ph type="sldImg" idx="2"/>
          </p:nvPr>
        </p:nvSpPr>
        <p:spPr>
          <a:xfrm>
            <a:off x="655638" y="1123950"/>
            <a:ext cx="5394325" cy="3035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118" name="Google Shape;118;p2:notes"/>
          <p:cNvSpPr txBox="1">
            <a:spLocks noGrp="1"/>
          </p:cNvSpPr>
          <p:nvPr>
            <p:ph type="body" idx="1"/>
          </p:nvPr>
        </p:nvSpPr>
        <p:spPr>
          <a:xfrm>
            <a:off x="670560" y="4327207"/>
            <a:ext cx="5364480" cy="3540443"/>
          </a:xfrm>
          <a:prstGeom prst="rect">
            <a:avLst/>
          </a:prstGeom>
          <a:noFill/>
          <a:ln>
            <a:noFill/>
          </a:ln>
        </p:spPr>
        <p:txBody>
          <a:bodyPr spcFirstLastPara="1" wrap="square" lIns="89679" tIns="44827" rIns="89679" bIns="44827" anchor="t" anchorCtr="0">
            <a:noAutofit/>
          </a:bodyPr>
          <a:lstStyle/>
          <a:p>
            <a:pPr marL="0" indent="0"/>
            <a:endParaRPr/>
          </a:p>
        </p:txBody>
      </p:sp>
      <p:sp>
        <p:nvSpPr>
          <p:cNvPr id="119" name="Google Shape;119;p2:notes"/>
          <p:cNvSpPr txBox="1">
            <a:spLocks noGrp="1"/>
          </p:cNvSpPr>
          <p:nvPr>
            <p:ph type="sldNum" idx="12"/>
          </p:nvPr>
        </p:nvSpPr>
        <p:spPr>
          <a:xfrm>
            <a:off x="3798288" y="8540460"/>
            <a:ext cx="2905760" cy="451141"/>
          </a:xfrm>
          <a:prstGeom prst="rect">
            <a:avLst/>
          </a:prstGeom>
          <a:noFill/>
          <a:ln>
            <a:noFill/>
          </a:ln>
        </p:spPr>
        <p:txBody>
          <a:bodyPr spcFirstLastPara="1" wrap="square" lIns="89679" tIns="44827" rIns="89679" bIns="44827" anchor="b" anchorCtr="0">
            <a:noAutofit/>
          </a:bodyPr>
          <a:lstStyle/>
          <a:p>
            <a:pPr algn="r"/>
            <a:fld id="{00000000-1234-1234-1234-123412341234}" type="slidenum">
              <a:rPr lang="en-US"/>
              <a:pPr algn="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74B619BE-95E0-4293-B64B-49B0F5D4CEDD}" type="slidenum">
              <a:rPr lang="en-IN" smtClean="0"/>
              <a:t>3</a:t>
            </a:fld>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74B619BE-95E0-4293-B64B-49B0F5D4CEDD}" type="slidenum">
              <a:rPr lang="en-IN" smtClean="0"/>
              <a:t>4</a:t>
            </a:fld>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74B619BE-95E0-4293-B64B-49B0F5D4CEDD}" type="slidenum">
              <a:rPr lang="en-IN" smtClean="0"/>
              <a:t>5</a:t>
            </a:fld>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45103-3C0E-82FB-7AD1-BDAADFC57B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FB4643-B594-A003-279C-2579B2BDE68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C6A14B1-9FF1-6FAC-5692-C5326BD9827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AC255CC-804E-79C3-C18D-0ED1FC42F701}"/>
              </a:ext>
            </a:extLst>
          </p:cNvPr>
          <p:cNvSpPr>
            <a:spLocks noGrp="1"/>
          </p:cNvSpPr>
          <p:nvPr>
            <p:ph type="sldNum" sz="quarter" idx="10"/>
          </p:nvPr>
        </p:nvSpPr>
        <p:spPr/>
        <p:txBody>
          <a:bodyPr/>
          <a:lstStyle/>
          <a:p>
            <a:fld id="{74B619BE-95E0-4293-B64B-49B0F5D4CEDD}" type="slidenum">
              <a:rPr lang="en-IN" smtClean="0"/>
              <a:t>6</a:t>
            </a:fld>
            <a:endParaRPr lang="en-IN"/>
          </a:p>
        </p:txBody>
      </p:sp>
    </p:spTree>
    <p:extLst>
      <p:ext uri="{BB962C8B-B14F-4D97-AF65-F5344CB8AC3E}">
        <p14:creationId xmlns:p14="http://schemas.microsoft.com/office/powerpoint/2010/main" val="25513723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74B619BE-95E0-4293-B64B-49B0F5D4CEDD}" type="slidenum">
              <a:rPr lang="en-IN" smtClean="0"/>
              <a:t>7</a:t>
            </a:fld>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10486-3AE6-63A9-2986-95F8B7047E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6FEB28-9A4A-F1EA-4D5A-C9ECB9890EF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8589DE4-5F08-DDF1-A19E-1F7973CE9BF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26A6CC5-D3B3-19E1-B294-098E5E601BF9}"/>
              </a:ext>
            </a:extLst>
          </p:cNvPr>
          <p:cNvSpPr>
            <a:spLocks noGrp="1"/>
          </p:cNvSpPr>
          <p:nvPr>
            <p:ph type="sldNum" sz="quarter" idx="10"/>
          </p:nvPr>
        </p:nvSpPr>
        <p:spPr/>
        <p:txBody>
          <a:bodyPr/>
          <a:lstStyle/>
          <a:p>
            <a:fld id="{74B619BE-95E0-4293-B64B-49B0F5D4CEDD}" type="slidenum">
              <a:rPr lang="en-IN" smtClean="0"/>
              <a:t>8</a:t>
            </a:fld>
            <a:endParaRPr lang="en-IN"/>
          </a:p>
        </p:txBody>
      </p:sp>
    </p:spTree>
    <p:extLst>
      <p:ext uri="{BB962C8B-B14F-4D97-AF65-F5344CB8AC3E}">
        <p14:creationId xmlns:p14="http://schemas.microsoft.com/office/powerpoint/2010/main" val="16210004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74B619BE-95E0-4293-B64B-49B0F5D4CEDD}" type="slidenum">
              <a:rPr lang="en-IN" smtClean="0"/>
              <a:t>9</a:t>
            </a:fld>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8040A-7E3E-5507-55D1-CF304FACDB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CE111E-CEB3-5C21-1C3A-C59231FB647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8238F86-CC2B-052A-CA44-3AFAF2D518F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181A962-BBDB-7B7B-81F9-970C4208DDE4}"/>
              </a:ext>
            </a:extLst>
          </p:cNvPr>
          <p:cNvSpPr>
            <a:spLocks noGrp="1"/>
          </p:cNvSpPr>
          <p:nvPr>
            <p:ph type="sldNum" sz="quarter" idx="10"/>
          </p:nvPr>
        </p:nvSpPr>
        <p:spPr/>
        <p:txBody>
          <a:bodyPr/>
          <a:lstStyle/>
          <a:p>
            <a:fld id="{74B619BE-95E0-4293-B64B-49B0F5D4CEDD}" type="slidenum">
              <a:rPr lang="en-IN" smtClean="0"/>
              <a:t>10</a:t>
            </a:fld>
            <a:endParaRPr lang="en-IN"/>
          </a:p>
        </p:txBody>
      </p:sp>
    </p:spTree>
    <p:extLst>
      <p:ext uri="{BB962C8B-B14F-4D97-AF65-F5344CB8AC3E}">
        <p14:creationId xmlns:p14="http://schemas.microsoft.com/office/powerpoint/2010/main" val="6505325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74B619BE-95E0-4293-B64B-49B0F5D4CEDD}" type="slidenum">
              <a:rPr lang="en-IN" smtClean="0"/>
              <a:t>11</a:t>
            </a:fld>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DCAED-001E-670D-6189-D4C7207BE9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342B90-7EE2-0845-4E75-44263B9107A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F79E4DA-24F2-65B4-6BD4-01552C0B802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3B4D592-E544-2A48-4F47-88D8EAADB99D}"/>
              </a:ext>
            </a:extLst>
          </p:cNvPr>
          <p:cNvSpPr>
            <a:spLocks noGrp="1"/>
          </p:cNvSpPr>
          <p:nvPr>
            <p:ph type="sldNum" sz="quarter" idx="10"/>
          </p:nvPr>
        </p:nvSpPr>
        <p:spPr/>
        <p:txBody>
          <a:bodyPr/>
          <a:lstStyle/>
          <a:p>
            <a:fld id="{74B619BE-95E0-4293-B64B-49B0F5D4CEDD}" type="slidenum">
              <a:rPr lang="en-IN" smtClean="0"/>
              <a:t>12</a:t>
            </a:fld>
            <a:endParaRPr lang="en-IN"/>
          </a:p>
        </p:txBody>
      </p:sp>
    </p:spTree>
    <p:extLst>
      <p:ext uri="{BB962C8B-B14F-4D97-AF65-F5344CB8AC3E}">
        <p14:creationId xmlns:p14="http://schemas.microsoft.com/office/powerpoint/2010/main" val="17961519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74B619BE-95E0-4293-B64B-49B0F5D4CEDD}" type="slidenum">
              <a:rPr lang="en-IN" smtClean="0"/>
              <a:t>13</a:t>
            </a:fld>
            <a:endParaRPr lang="en-I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74B619BE-95E0-4293-B64B-49B0F5D4CEDD}" type="slidenum">
              <a:rPr lang="en-IN" smtClean="0"/>
              <a:t>14</a:t>
            </a:fld>
            <a:endParaRPr lang="en-I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AAB14-73EC-50B1-B05D-A9570423CE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A6E99B-6CE2-9356-62EC-FD5CCCB4BFC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27AE6E3-143C-39F8-693A-277192DA7B3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2A543DF-6D22-2E0B-7E0D-F41B18F8624B}"/>
              </a:ext>
            </a:extLst>
          </p:cNvPr>
          <p:cNvSpPr>
            <a:spLocks noGrp="1"/>
          </p:cNvSpPr>
          <p:nvPr>
            <p:ph type="sldNum" sz="quarter" idx="10"/>
          </p:nvPr>
        </p:nvSpPr>
        <p:spPr/>
        <p:txBody>
          <a:bodyPr/>
          <a:lstStyle/>
          <a:p>
            <a:fld id="{74B619BE-95E0-4293-B64B-49B0F5D4CEDD}" type="slidenum">
              <a:rPr lang="en-IN" smtClean="0"/>
              <a:t>15</a:t>
            </a:fld>
            <a:endParaRPr lang="en-IN"/>
          </a:p>
        </p:txBody>
      </p:sp>
    </p:spTree>
    <p:extLst>
      <p:ext uri="{BB962C8B-B14F-4D97-AF65-F5344CB8AC3E}">
        <p14:creationId xmlns:p14="http://schemas.microsoft.com/office/powerpoint/2010/main" val="31542181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2869B-332A-8A0E-728E-5D098104F6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919803-DD89-F06F-7F4F-6A31F4892A4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49E92A9-1EC6-ECB2-2E7A-E70FD8C8B71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4B3A6FC-F191-00F2-014D-AF606306522A}"/>
              </a:ext>
            </a:extLst>
          </p:cNvPr>
          <p:cNvSpPr>
            <a:spLocks noGrp="1"/>
          </p:cNvSpPr>
          <p:nvPr>
            <p:ph type="sldNum" sz="quarter" idx="10"/>
          </p:nvPr>
        </p:nvSpPr>
        <p:spPr/>
        <p:txBody>
          <a:bodyPr/>
          <a:lstStyle/>
          <a:p>
            <a:fld id="{74B619BE-95E0-4293-B64B-49B0F5D4CEDD}" type="slidenum">
              <a:rPr lang="en-IN" smtClean="0"/>
              <a:t>16</a:t>
            </a:fld>
            <a:endParaRPr lang="en-IN"/>
          </a:p>
        </p:txBody>
      </p:sp>
    </p:spTree>
    <p:extLst>
      <p:ext uri="{BB962C8B-B14F-4D97-AF65-F5344CB8AC3E}">
        <p14:creationId xmlns:p14="http://schemas.microsoft.com/office/powerpoint/2010/main" val="15595288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21F06-B5D3-B88E-399C-3679FA0ACA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DCA5B9-AC19-CC5C-C7C8-5A3ACB93902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FEE421-1F7A-3B6E-39C5-94F0FD6E067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18340EB-A7B6-9C3F-89F2-680D3BE80E54}"/>
              </a:ext>
            </a:extLst>
          </p:cNvPr>
          <p:cNvSpPr>
            <a:spLocks noGrp="1"/>
          </p:cNvSpPr>
          <p:nvPr>
            <p:ph type="sldNum" sz="quarter" idx="10"/>
          </p:nvPr>
        </p:nvSpPr>
        <p:spPr/>
        <p:txBody>
          <a:bodyPr/>
          <a:lstStyle/>
          <a:p>
            <a:fld id="{74B619BE-95E0-4293-B64B-49B0F5D4CEDD}" type="slidenum">
              <a:rPr lang="en-IN" smtClean="0"/>
              <a:t>17</a:t>
            </a:fld>
            <a:endParaRPr lang="en-IN"/>
          </a:p>
        </p:txBody>
      </p:sp>
    </p:spTree>
    <p:extLst>
      <p:ext uri="{BB962C8B-B14F-4D97-AF65-F5344CB8AC3E}">
        <p14:creationId xmlns:p14="http://schemas.microsoft.com/office/powerpoint/2010/main" val="13381176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DD9E4-8C7E-E4FA-FD91-B5246573B7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B5560C-95A7-44F2-9C6C-811B5E77ED6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6EA6A1A-FCA7-755E-834A-9E01697F72F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3AF4A54-CEAB-4988-93EF-5E48646AAF3F}"/>
              </a:ext>
            </a:extLst>
          </p:cNvPr>
          <p:cNvSpPr>
            <a:spLocks noGrp="1"/>
          </p:cNvSpPr>
          <p:nvPr>
            <p:ph type="sldNum" sz="quarter" idx="10"/>
          </p:nvPr>
        </p:nvSpPr>
        <p:spPr/>
        <p:txBody>
          <a:bodyPr/>
          <a:lstStyle/>
          <a:p>
            <a:fld id="{74B619BE-95E0-4293-B64B-49B0F5D4CEDD}" type="slidenum">
              <a:rPr lang="en-IN" smtClean="0"/>
              <a:t>18</a:t>
            </a:fld>
            <a:endParaRPr lang="en-IN"/>
          </a:p>
        </p:txBody>
      </p:sp>
    </p:spTree>
    <p:extLst>
      <p:ext uri="{BB962C8B-B14F-4D97-AF65-F5344CB8AC3E}">
        <p14:creationId xmlns:p14="http://schemas.microsoft.com/office/powerpoint/2010/main" val="1993843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C610E-D1F6-6F62-DCF9-453247C100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63894E-C5AC-9128-5778-10BD2D4C4D1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5C5F534-15CD-A3C2-3C21-FBD6DBB58C5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DAFADFB-0D47-7FB3-23D7-2D3FE66EBB1B}"/>
              </a:ext>
            </a:extLst>
          </p:cNvPr>
          <p:cNvSpPr>
            <a:spLocks noGrp="1"/>
          </p:cNvSpPr>
          <p:nvPr>
            <p:ph type="sldNum" sz="quarter" idx="10"/>
          </p:nvPr>
        </p:nvSpPr>
        <p:spPr/>
        <p:txBody>
          <a:bodyPr/>
          <a:lstStyle/>
          <a:p>
            <a:fld id="{74B619BE-95E0-4293-B64B-49B0F5D4CEDD}" type="slidenum">
              <a:rPr lang="en-IN" smtClean="0"/>
              <a:t>19</a:t>
            </a:fld>
            <a:endParaRPr lang="en-IN"/>
          </a:p>
        </p:txBody>
      </p:sp>
    </p:spTree>
    <p:extLst>
      <p:ext uri="{BB962C8B-B14F-4D97-AF65-F5344CB8AC3E}">
        <p14:creationId xmlns:p14="http://schemas.microsoft.com/office/powerpoint/2010/main" val="7834196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C94BA-3C18-B711-A132-D3248A6477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65F580-D154-F9BF-C725-F485B40A563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29AEB49-D0EC-7C31-5AE3-4370CAD0049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81DA98A-9D54-AEE3-3E88-8FE5E01536E9}"/>
              </a:ext>
            </a:extLst>
          </p:cNvPr>
          <p:cNvSpPr>
            <a:spLocks noGrp="1"/>
          </p:cNvSpPr>
          <p:nvPr>
            <p:ph type="sldNum" sz="quarter" idx="10"/>
          </p:nvPr>
        </p:nvSpPr>
        <p:spPr/>
        <p:txBody>
          <a:bodyPr/>
          <a:lstStyle/>
          <a:p>
            <a:fld id="{74B619BE-95E0-4293-B64B-49B0F5D4CEDD}" type="slidenum">
              <a:rPr lang="en-IN" smtClean="0"/>
              <a:t>20</a:t>
            </a:fld>
            <a:endParaRPr lang="en-IN"/>
          </a:p>
        </p:txBody>
      </p:sp>
    </p:spTree>
    <p:extLst>
      <p:ext uri="{BB962C8B-B14F-4D97-AF65-F5344CB8AC3E}">
        <p14:creationId xmlns:p14="http://schemas.microsoft.com/office/powerpoint/2010/main" val="6995128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3AFF1-7085-56DD-9217-7C745FC592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8BFD8A-79F9-F672-4439-DFEFDD227C4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53A2593-1964-7BEE-229E-6BE71686CD1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4F3692C-FF6F-91B6-DE67-6C138B2E443A}"/>
              </a:ext>
            </a:extLst>
          </p:cNvPr>
          <p:cNvSpPr>
            <a:spLocks noGrp="1"/>
          </p:cNvSpPr>
          <p:nvPr>
            <p:ph type="sldNum" sz="quarter" idx="10"/>
          </p:nvPr>
        </p:nvSpPr>
        <p:spPr/>
        <p:txBody>
          <a:bodyPr/>
          <a:lstStyle/>
          <a:p>
            <a:fld id="{74B619BE-95E0-4293-B64B-49B0F5D4CEDD}" type="slidenum">
              <a:rPr lang="en-IN" smtClean="0"/>
              <a:t>21</a:t>
            </a:fld>
            <a:endParaRPr lang="en-IN"/>
          </a:p>
        </p:txBody>
      </p:sp>
    </p:spTree>
    <p:extLst>
      <p:ext uri="{BB962C8B-B14F-4D97-AF65-F5344CB8AC3E}">
        <p14:creationId xmlns:p14="http://schemas.microsoft.com/office/powerpoint/2010/main" val="7017047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B2628-6FEB-A510-12E2-74B24EAAF1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018841-95EE-5DF7-5F9D-5619009761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09CDE59-72B7-D68E-8276-CF8FFE05F0D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7B4B6ED-1344-3CEE-D3FD-335CCFF934DE}"/>
              </a:ext>
            </a:extLst>
          </p:cNvPr>
          <p:cNvSpPr>
            <a:spLocks noGrp="1"/>
          </p:cNvSpPr>
          <p:nvPr>
            <p:ph type="sldNum" sz="quarter" idx="10"/>
          </p:nvPr>
        </p:nvSpPr>
        <p:spPr/>
        <p:txBody>
          <a:bodyPr/>
          <a:lstStyle/>
          <a:p>
            <a:fld id="{74B619BE-95E0-4293-B64B-49B0F5D4CEDD}" type="slidenum">
              <a:rPr lang="en-IN" smtClean="0"/>
              <a:t>22</a:t>
            </a:fld>
            <a:endParaRPr lang="en-IN"/>
          </a:p>
        </p:txBody>
      </p:sp>
    </p:spTree>
    <p:extLst>
      <p:ext uri="{BB962C8B-B14F-4D97-AF65-F5344CB8AC3E}">
        <p14:creationId xmlns:p14="http://schemas.microsoft.com/office/powerpoint/2010/main" val="12811704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07C37-E80E-E47E-B0E5-E888B86D1A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2DC943-AFDE-92A6-478F-2E7564EA8E1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19C1E8B-93EB-AEF8-6BFE-0D825062126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F3146F6-996B-B936-28C1-3251E76AFFF4}"/>
              </a:ext>
            </a:extLst>
          </p:cNvPr>
          <p:cNvSpPr>
            <a:spLocks noGrp="1"/>
          </p:cNvSpPr>
          <p:nvPr>
            <p:ph type="sldNum" sz="quarter" idx="10"/>
          </p:nvPr>
        </p:nvSpPr>
        <p:spPr/>
        <p:txBody>
          <a:bodyPr/>
          <a:lstStyle/>
          <a:p>
            <a:fld id="{74B619BE-95E0-4293-B64B-49B0F5D4CEDD}" type="slidenum">
              <a:rPr lang="en-IN" smtClean="0"/>
              <a:t>23</a:t>
            </a:fld>
            <a:endParaRPr lang="en-IN"/>
          </a:p>
        </p:txBody>
      </p:sp>
    </p:spTree>
    <p:extLst>
      <p:ext uri="{BB962C8B-B14F-4D97-AF65-F5344CB8AC3E}">
        <p14:creationId xmlns:p14="http://schemas.microsoft.com/office/powerpoint/2010/main" val="2817389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7DFC8-7956-87D3-6704-980175DAD6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6A985B-80E7-9C5A-8135-B30B3607613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03F1FD9-D51C-4501-9706-531102E2321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D2316C9-7FC8-A142-7235-380CFA0C294C}"/>
              </a:ext>
            </a:extLst>
          </p:cNvPr>
          <p:cNvSpPr>
            <a:spLocks noGrp="1"/>
          </p:cNvSpPr>
          <p:nvPr>
            <p:ph type="sldNum" sz="quarter" idx="10"/>
          </p:nvPr>
        </p:nvSpPr>
        <p:spPr/>
        <p:txBody>
          <a:bodyPr/>
          <a:lstStyle/>
          <a:p>
            <a:fld id="{74B619BE-95E0-4293-B64B-49B0F5D4CEDD}" type="slidenum">
              <a:rPr lang="en-IN" smtClean="0"/>
              <a:t>24</a:t>
            </a:fld>
            <a:endParaRPr lang="en-IN"/>
          </a:p>
        </p:txBody>
      </p:sp>
    </p:spTree>
    <p:extLst>
      <p:ext uri="{BB962C8B-B14F-4D97-AF65-F5344CB8AC3E}">
        <p14:creationId xmlns:p14="http://schemas.microsoft.com/office/powerpoint/2010/main" val="11539572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D2AC6-67CA-365F-5E53-C5E30C75F8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10EE37-D1DB-2C66-74E5-3061EC18661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BCC2A74-F2C8-C55E-5E93-78A154974E8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60A33B8-BD26-6D39-328B-A4EA5C21E674}"/>
              </a:ext>
            </a:extLst>
          </p:cNvPr>
          <p:cNvSpPr>
            <a:spLocks noGrp="1"/>
          </p:cNvSpPr>
          <p:nvPr>
            <p:ph type="sldNum" sz="quarter" idx="10"/>
          </p:nvPr>
        </p:nvSpPr>
        <p:spPr/>
        <p:txBody>
          <a:bodyPr/>
          <a:lstStyle/>
          <a:p>
            <a:fld id="{74B619BE-95E0-4293-B64B-49B0F5D4CEDD}" type="slidenum">
              <a:rPr lang="en-IN" smtClean="0"/>
              <a:t>25</a:t>
            </a:fld>
            <a:endParaRPr lang="en-IN"/>
          </a:p>
        </p:txBody>
      </p:sp>
    </p:spTree>
    <p:extLst>
      <p:ext uri="{BB962C8B-B14F-4D97-AF65-F5344CB8AC3E}">
        <p14:creationId xmlns:p14="http://schemas.microsoft.com/office/powerpoint/2010/main" val="19174078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74B619BE-95E0-4293-B64B-49B0F5D4CEDD}" type="slidenum">
              <a:rPr lang="en-IN" smtClean="0"/>
              <a:t>26</a:t>
            </a:fld>
            <a:endParaRPr lang="en-I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74B619BE-95E0-4293-B64B-49B0F5D4CEDD}" type="slidenum">
              <a:rPr lang="en-IN" smtClean="0"/>
              <a:t>27</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8"/>
        <p:cNvGrpSpPr/>
        <p:nvPr/>
      </p:nvGrpSpPr>
      <p:grpSpPr>
        <a:xfrm>
          <a:off x="0" y="0"/>
          <a:ext cx="0" cy="0"/>
          <a:chOff x="0" y="0"/>
          <a:chExt cx="0" cy="0"/>
        </a:xfrm>
      </p:grpSpPr>
      <p:sp>
        <p:nvSpPr>
          <p:cNvPr id="19" name="Google Shape;19;p4"/>
          <p:cNvSpPr/>
          <p:nvPr/>
        </p:nvSpPr>
        <p:spPr>
          <a:xfrm>
            <a:off x="3175" y="6400800"/>
            <a:ext cx="12188825" cy="457200"/>
          </a:xfrm>
          <a:prstGeom prst="rect">
            <a:avLst/>
          </a:pr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p:nvPr/>
        </p:nvSpPr>
        <p:spPr>
          <a:xfrm>
            <a:off x="15" y="6334316"/>
            <a:ext cx="12188825" cy="64008"/>
          </a:xfrm>
          <a:prstGeom prst="rect">
            <a:avLst/>
          </a:pr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panose="020F0502020204030204"/>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4"/>
          <p:cNvSpPr txBox="1">
            <a:spLocks noGrp="1"/>
          </p:cNvSpPr>
          <p:nvPr>
            <p:ph type="subTitle" idx="1"/>
          </p:nvPr>
        </p:nvSpPr>
        <p:spPr>
          <a:xfrm>
            <a:off x="1100051" y="4455620"/>
            <a:ext cx="10058400" cy="11430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200"/>
              </a:spcBef>
              <a:spcAft>
                <a:spcPts val="0"/>
              </a:spcAft>
              <a:buSzPts val="2400"/>
              <a:buNone/>
              <a:defRPr sz="2400" cap="none">
                <a:solidFill>
                  <a:schemeClr val="dk2"/>
                </a:solidFill>
                <a:latin typeface="Calibri" panose="020F0502020204030204"/>
                <a:ea typeface="Calibri" panose="020F0502020204030204"/>
                <a:cs typeface="Calibri" panose="020F0502020204030204"/>
                <a:sym typeface="Calibri" panose="020F0502020204030204"/>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a:endParaRPr/>
          </a:p>
        </p:txBody>
      </p:sp>
      <p:sp>
        <p:nvSpPr>
          <p:cNvPr id="23" name="Google Shape;23;p4"/>
          <p:cNvSpPr txBox="1">
            <a:spLocks noGrp="1"/>
          </p:cNvSpPr>
          <p:nvPr>
            <p:ph type="dt" idx="10"/>
          </p:nvPr>
        </p:nvSpPr>
        <p:spPr>
          <a:xfrm>
            <a:off x="1097280" y="6459785"/>
            <a:ext cx="2472271" cy="365125"/>
          </a:xfrm>
          <a:prstGeom prst="rect">
            <a:avLst/>
          </a:prstGeom>
          <a:solidFill>
            <a:srgbClr val="0070C0"/>
          </a:solid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4"/>
          <p:cNvSpPr txBox="1">
            <a:spLocks noGrp="1"/>
          </p:cNvSpPr>
          <p:nvPr>
            <p:ph type="ftr" idx="11"/>
          </p:nvPr>
        </p:nvSpPr>
        <p:spPr>
          <a:xfrm>
            <a:off x="3686185" y="6459785"/>
            <a:ext cx="4822804" cy="365125"/>
          </a:xfrm>
          <a:prstGeom prst="rect">
            <a:avLst/>
          </a:prstGeom>
          <a:solidFill>
            <a:srgbClr val="0070C0"/>
          </a:solid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sldNum" idx="12"/>
          </p:nvPr>
        </p:nvSpPr>
        <p:spPr>
          <a:xfrm>
            <a:off x="9900458" y="6459785"/>
            <a:ext cx="1312025" cy="365125"/>
          </a:xfrm>
          <a:prstGeom prst="rect">
            <a:avLst/>
          </a:prstGeom>
          <a:solidFill>
            <a:srgbClr val="0070C0"/>
          </a:solid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
          <p:cNvSpPr/>
          <p:nvPr/>
        </p:nvSpPr>
        <p:spPr>
          <a:xfrm>
            <a:off x="1" y="6400800"/>
            <a:ext cx="12192000"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3"/>
          <p:cNvSpPr/>
          <p:nvPr/>
        </p:nvSpPr>
        <p:spPr>
          <a:xfrm>
            <a:off x="0" y="6334316"/>
            <a:ext cx="12192000" cy="659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marR="0" lvl="0" algn="l" rtl="0">
              <a:lnSpc>
                <a:spcPct val="85000"/>
              </a:lnSpc>
              <a:spcBef>
                <a:spcPts val="0"/>
              </a:spcBef>
              <a:spcAft>
                <a:spcPts val="0"/>
              </a:spcAft>
              <a:buClr>
                <a:srgbClr val="3F3F3F"/>
              </a:buClr>
              <a:buSzPts val="4800"/>
              <a:buFont typeface="Calibri" panose="020F0502020204030204"/>
              <a:buNone/>
              <a:defRPr sz="48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3"/>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marR="0" lvl="0" indent="-355600" algn="l" rtl="0">
              <a:lnSpc>
                <a:spcPct val="90000"/>
              </a:lnSpc>
              <a:spcBef>
                <a:spcPts val="1200"/>
              </a:spcBef>
              <a:spcAft>
                <a:spcPts val="0"/>
              </a:spcAft>
              <a:buClr>
                <a:schemeClr val="accent1"/>
              </a:buClr>
              <a:buSzPts val="2000"/>
              <a:buFont typeface="Calibri" panose="020F0502020204030204"/>
              <a:buChar char=" "/>
              <a:defRPr sz="20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1pPr>
            <a:lvl2pPr marL="914400" marR="0" lvl="1" indent="-342900" algn="l" rtl="0">
              <a:lnSpc>
                <a:spcPct val="90000"/>
              </a:lnSpc>
              <a:spcBef>
                <a:spcPts val="200"/>
              </a:spcBef>
              <a:spcAft>
                <a:spcPts val="0"/>
              </a:spcAft>
              <a:buClr>
                <a:schemeClr val="accent1"/>
              </a:buClr>
              <a:buSzPts val="1800"/>
              <a:buFont typeface="Calibri" panose="020F0502020204030204"/>
              <a:buChar char="◦"/>
              <a:defRPr sz="18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2pPr>
            <a:lvl3pPr marL="1371600" marR="0" lvl="2" indent="-317500" algn="l" rtl="0">
              <a:lnSpc>
                <a:spcPct val="90000"/>
              </a:lnSpc>
              <a:spcBef>
                <a:spcPts val="400"/>
              </a:spcBef>
              <a:spcAft>
                <a:spcPts val="0"/>
              </a:spcAft>
              <a:buClr>
                <a:schemeClr val="accent1"/>
              </a:buClr>
              <a:buSzPts val="1400"/>
              <a:buFont typeface="Calibri" panose="020F0502020204030204"/>
              <a:buChar char="◦"/>
              <a:defRPr sz="14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3pPr>
            <a:lvl4pPr marL="1828800" marR="0" lvl="3" indent="-317500" algn="l" rtl="0">
              <a:lnSpc>
                <a:spcPct val="90000"/>
              </a:lnSpc>
              <a:spcBef>
                <a:spcPts val="400"/>
              </a:spcBef>
              <a:spcAft>
                <a:spcPts val="0"/>
              </a:spcAft>
              <a:buClr>
                <a:schemeClr val="accent1"/>
              </a:buClr>
              <a:buSzPts val="1400"/>
              <a:buFont typeface="Calibri" panose="020F0502020204030204"/>
              <a:buChar char="◦"/>
              <a:defRPr sz="14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4pPr>
            <a:lvl5pPr marL="2286000" marR="0" lvl="4" indent="-317500" algn="l" rtl="0">
              <a:lnSpc>
                <a:spcPct val="90000"/>
              </a:lnSpc>
              <a:spcBef>
                <a:spcPts val="400"/>
              </a:spcBef>
              <a:spcAft>
                <a:spcPts val="0"/>
              </a:spcAft>
              <a:buClr>
                <a:schemeClr val="accent1"/>
              </a:buClr>
              <a:buSzPts val="1400"/>
              <a:buFont typeface="Calibri" panose="020F0502020204030204"/>
              <a:buChar char="◦"/>
              <a:defRPr sz="14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5pPr>
            <a:lvl6pPr marL="2743200" marR="0" lvl="5" indent="-317500" algn="l" rtl="0">
              <a:lnSpc>
                <a:spcPct val="90000"/>
              </a:lnSpc>
              <a:spcBef>
                <a:spcPts val="400"/>
              </a:spcBef>
              <a:spcAft>
                <a:spcPts val="0"/>
              </a:spcAft>
              <a:buClr>
                <a:schemeClr val="accent1"/>
              </a:buClr>
              <a:buSzPts val="1400"/>
              <a:buFont typeface="Calibri" panose="020F0502020204030204"/>
              <a:buChar char="◦"/>
              <a:defRPr sz="14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6pPr>
            <a:lvl7pPr marL="3200400" marR="0" lvl="6" indent="-317500" algn="l" rtl="0">
              <a:lnSpc>
                <a:spcPct val="90000"/>
              </a:lnSpc>
              <a:spcBef>
                <a:spcPts val="400"/>
              </a:spcBef>
              <a:spcAft>
                <a:spcPts val="0"/>
              </a:spcAft>
              <a:buClr>
                <a:schemeClr val="accent1"/>
              </a:buClr>
              <a:buSzPts val="1400"/>
              <a:buFont typeface="Calibri" panose="020F0502020204030204"/>
              <a:buChar char="◦"/>
              <a:defRPr sz="14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7pPr>
            <a:lvl8pPr marL="3657600" marR="0" lvl="7" indent="-317500" algn="l" rtl="0">
              <a:lnSpc>
                <a:spcPct val="90000"/>
              </a:lnSpc>
              <a:spcBef>
                <a:spcPts val="400"/>
              </a:spcBef>
              <a:spcAft>
                <a:spcPts val="0"/>
              </a:spcAft>
              <a:buClr>
                <a:schemeClr val="accent1"/>
              </a:buClr>
              <a:buSzPts val="1400"/>
              <a:buFont typeface="Calibri" panose="020F0502020204030204"/>
              <a:buChar char="◦"/>
              <a:defRPr sz="14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8pPr>
            <a:lvl9pPr marL="4114800" marR="0" lvl="8" indent="-317500" algn="l" rtl="0">
              <a:lnSpc>
                <a:spcPct val="90000"/>
              </a:lnSpc>
              <a:spcBef>
                <a:spcPts val="400"/>
              </a:spcBef>
              <a:spcAft>
                <a:spcPts val="400"/>
              </a:spcAft>
              <a:buClr>
                <a:schemeClr val="accent1"/>
              </a:buClr>
              <a:buSzPts val="1400"/>
              <a:buFont typeface="Calibri" panose="020F0502020204030204"/>
              <a:buChar char="◦"/>
              <a:defRPr sz="14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4" name="Google Shape;14;p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FFFFFF"/>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5" name="Google Shape;15;p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FFFFFF"/>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6" name="Google Shape;16;p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50" b="0" i="0" u="none" strike="noStrike" cap="none">
                <a:solidFill>
                  <a:srgbClr val="FFFFFF"/>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050" b="0" i="0" u="none" strike="noStrike" cap="none">
                <a:solidFill>
                  <a:srgbClr val="FFFFFF"/>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050" b="0" i="0" u="none" strike="noStrike" cap="none">
                <a:solidFill>
                  <a:srgbClr val="FFFFFF"/>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050" b="0" i="0" u="none" strike="noStrike" cap="none">
                <a:solidFill>
                  <a:srgbClr val="FFFFFF"/>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050" b="0" i="0" u="none" strike="noStrike" cap="none">
                <a:solidFill>
                  <a:srgbClr val="FFFFFF"/>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050" b="0" i="0" u="none" strike="noStrike" cap="none">
                <a:solidFill>
                  <a:srgbClr val="FFFFFF"/>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050" b="0" i="0" u="none" strike="noStrike" cap="none">
                <a:solidFill>
                  <a:srgbClr val="FFFFFF"/>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050" b="0" i="0" u="none" strike="noStrike" cap="none">
                <a:solidFill>
                  <a:srgbClr val="FFFFFF"/>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050" b="0" i="0" u="none" strike="noStrike" cap="none">
                <a:solidFill>
                  <a:srgbClr val="FFFFFF"/>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cxnSp>
        <p:nvCxnSpPr>
          <p:cNvPr id="17" name="Google Shape;17;p3"/>
          <p:cNvCxnSpPr/>
          <p:nvPr/>
        </p:nvCxnSpPr>
        <p:spPr>
          <a:xfrm>
            <a:off x="1193532" y="1737845"/>
            <a:ext cx="9966960" cy="0"/>
          </a:xfrm>
          <a:prstGeom prst="straightConnector1">
            <a:avLst/>
          </a:prstGeom>
          <a:noFill/>
          <a:ln w="9525" cap="flat" cmpd="sng">
            <a:solidFill>
              <a:srgbClr val="7F7F7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7.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
          <p:cNvSpPr txBox="1">
            <a:spLocks noGrp="1"/>
          </p:cNvSpPr>
          <p:nvPr>
            <p:ph type="sldNum" idx="12"/>
          </p:nvPr>
        </p:nvSpPr>
        <p:spPr>
          <a:xfrm>
            <a:off x="10456832" y="6386173"/>
            <a:ext cx="1312025" cy="365125"/>
          </a:xfrm>
          <a:prstGeom prst="rect">
            <a:avLst/>
          </a:prstGeom>
          <a:solidFill>
            <a:srgbClr val="0070C0"/>
          </a:solid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2000"/>
              <a:t>1</a:t>
            </a:fld>
            <a:endParaRPr sz="2000"/>
          </a:p>
        </p:txBody>
      </p:sp>
      <p:sp>
        <p:nvSpPr>
          <p:cNvPr id="106" name="Google Shape;106;p1"/>
          <p:cNvSpPr txBox="1">
            <a:spLocks noGrp="1"/>
          </p:cNvSpPr>
          <p:nvPr>
            <p:ph type="ftr" idx="11"/>
          </p:nvPr>
        </p:nvSpPr>
        <p:spPr>
          <a:xfrm>
            <a:off x="1069431" y="6386173"/>
            <a:ext cx="9136023" cy="356382"/>
          </a:xfrm>
          <a:prstGeom prst="rect">
            <a:avLst/>
          </a:prstGeom>
          <a:solidFill>
            <a:srgbClr val="0070C0"/>
          </a:solid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000"/>
              <a:t>DEPARTMENT OF COMPUTER SCIENCE AND ENGINEERING</a:t>
            </a:r>
            <a:endParaRPr sz="2000"/>
          </a:p>
        </p:txBody>
      </p:sp>
      <p:pic>
        <p:nvPicPr>
          <p:cNvPr id="107" name="Google Shape;107;p1"/>
          <p:cNvPicPr preferRelativeResize="0"/>
          <p:nvPr/>
        </p:nvPicPr>
        <p:blipFill rotWithShape="1">
          <a:blip r:embed="rId3"/>
          <a:srcRect/>
          <a:stretch>
            <a:fillRect/>
          </a:stretch>
        </p:blipFill>
        <p:spPr>
          <a:xfrm>
            <a:off x="8721665" y="37033"/>
            <a:ext cx="3470335" cy="689927"/>
          </a:xfrm>
          <a:prstGeom prst="rect">
            <a:avLst/>
          </a:prstGeom>
          <a:noFill/>
          <a:ln>
            <a:noFill/>
          </a:ln>
        </p:spPr>
      </p:pic>
      <p:pic>
        <p:nvPicPr>
          <p:cNvPr id="108" name="Google Shape;108;p1"/>
          <p:cNvPicPr preferRelativeResize="0"/>
          <p:nvPr/>
        </p:nvPicPr>
        <p:blipFill rotWithShape="1">
          <a:blip r:embed="rId4"/>
          <a:srcRect/>
          <a:stretch>
            <a:fillRect/>
          </a:stretch>
        </p:blipFill>
        <p:spPr>
          <a:xfrm>
            <a:off x="0" y="5704366"/>
            <a:ext cx="1153634" cy="1153634"/>
          </a:xfrm>
          <a:prstGeom prst="rect">
            <a:avLst/>
          </a:prstGeom>
          <a:noFill/>
          <a:ln>
            <a:noFill/>
          </a:ln>
        </p:spPr>
      </p:pic>
      <p:graphicFrame>
        <p:nvGraphicFramePr>
          <p:cNvPr id="109" name="Google Shape;109;p1"/>
          <p:cNvGraphicFramePr/>
          <p:nvPr>
            <p:extLst>
              <p:ext uri="{D42A27DB-BD31-4B8C-83A1-F6EECF244321}">
                <p14:modId xmlns:p14="http://schemas.microsoft.com/office/powerpoint/2010/main" val="2357838732"/>
              </p:ext>
            </p:extLst>
          </p:nvPr>
        </p:nvGraphicFramePr>
        <p:xfrm>
          <a:off x="959207" y="2603529"/>
          <a:ext cx="10809650" cy="2859468"/>
        </p:xfrm>
        <a:graphic>
          <a:graphicData uri="http://schemas.openxmlformats.org/drawingml/2006/table">
            <a:tbl>
              <a:tblPr>
                <a:noFill/>
                <a:tableStyleId>{21E018F8-684C-4949-AFBB-6D3B47F987D8}</a:tableStyleId>
              </a:tblPr>
              <a:tblGrid>
                <a:gridCol w="1131375">
                  <a:extLst>
                    <a:ext uri="{9D8B030D-6E8A-4147-A177-3AD203B41FA5}">
                      <a16:colId xmlns:a16="http://schemas.microsoft.com/office/drawing/2014/main" val="20000"/>
                    </a:ext>
                  </a:extLst>
                </a:gridCol>
                <a:gridCol w="3705025">
                  <a:extLst>
                    <a:ext uri="{9D8B030D-6E8A-4147-A177-3AD203B41FA5}">
                      <a16:colId xmlns:a16="http://schemas.microsoft.com/office/drawing/2014/main" val="20001"/>
                    </a:ext>
                  </a:extLst>
                </a:gridCol>
                <a:gridCol w="5973250">
                  <a:extLst>
                    <a:ext uri="{9D8B030D-6E8A-4147-A177-3AD203B41FA5}">
                      <a16:colId xmlns:a16="http://schemas.microsoft.com/office/drawing/2014/main" val="20002"/>
                    </a:ext>
                  </a:extLst>
                </a:gridCol>
              </a:tblGrid>
              <a:tr h="378150">
                <a:tc>
                  <a:txBody>
                    <a:bodyPr/>
                    <a:lstStyle/>
                    <a:p>
                      <a:pPr marL="0" marR="0" lvl="0" indent="0" algn="ctr" rtl="0">
                        <a:lnSpc>
                          <a:spcPct val="115000"/>
                        </a:lnSpc>
                        <a:spcBef>
                          <a:spcPts val="0"/>
                        </a:spcBef>
                        <a:spcAft>
                          <a:spcPts val="0"/>
                        </a:spcAft>
                        <a:buNone/>
                      </a:pPr>
                      <a:r>
                        <a:rPr lang="en-US" sz="2400" b="1" u="none" strike="noStrike" cap="none" dirty="0">
                          <a:latin typeface="Times New Roman" panose="02020603050405020304"/>
                          <a:ea typeface="Times New Roman" panose="02020603050405020304"/>
                          <a:cs typeface="Times New Roman" panose="02020603050405020304"/>
                          <a:sym typeface="Times New Roman" panose="02020603050405020304"/>
                        </a:rPr>
                        <a:t>S. No.</a:t>
                      </a:r>
                      <a:endParaRPr sz="2400" u="none" strike="noStrike" cap="none" dirty="0">
                        <a:latin typeface="Calibri" panose="020F0502020204030204"/>
                        <a:ea typeface="Calibri" panose="020F0502020204030204"/>
                        <a:cs typeface="Calibri" panose="020F0502020204030204"/>
                        <a:sym typeface="Calibri" panose="020F05020202040302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US" sz="2400" b="1" u="none" strike="noStrike" cap="none" dirty="0">
                          <a:latin typeface="Times New Roman" panose="02020603050405020304"/>
                          <a:ea typeface="Times New Roman" panose="02020603050405020304"/>
                          <a:cs typeface="Times New Roman" panose="02020603050405020304"/>
                          <a:sym typeface="Times New Roman" panose="02020603050405020304"/>
                        </a:rPr>
                        <a:t>Register number</a:t>
                      </a:r>
                      <a:endParaRPr sz="2400" u="none" strike="noStrike" cap="none" dirty="0">
                        <a:latin typeface="Calibri" panose="020F0502020204030204"/>
                        <a:ea typeface="Calibri" panose="020F0502020204030204"/>
                        <a:cs typeface="Calibri" panose="020F0502020204030204"/>
                        <a:sym typeface="Calibri" panose="020F05020202040302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US" sz="2400" b="1" u="none" strike="noStrike" cap="none">
                          <a:latin typeface="Times New Roman" panose="02020603050405020304"/>
                          <a:ea typeface="Times New Roman" panose="02020603050405020304"/>
                          <a:cs typeface="Times New Roman" panose="02020603050405020304"/>
                          <a:sym typeface="Times New Roman" panose="02020603050405020304"/>
                        </a:rPr>
                        <a:t>Name of the Student</a:t>
                      </a:r>
                      <a:endParaRPr sz="2400" u="none" strike="noStrike" cap="none">
                        <a:latin typeface="Calibri" panose="020F0502020204030204"/>
                        <a:ea typeface="Calibri" panose="020F0502020204030204"/>
                        <a:cs typeface="Calibri" panose="020F0502020204030204"/>
                        <a:sym typeface="Calibri" panose="020F05020202040302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74400">
                <a:tc>
                  <a:txBody>
                    <a:bodyPr/>
                    <a:lstStyle/>
                    <a:p>
                      <a:pPr marL="0" marR="0" lvl="0" indent="0" algn="ctr" rtl="0">
                        <a:lnSpc>
                          <a:spcPct val="115000"/>
                        </a:lnSpc>
                        <a:spcBef>
                          <a:spcPts val="0"/>
                        </a:spcBef>
                        <a:spcAft>
                          <a:spcPts val="0"/>
                        </a:spcAft>
                        <a:buNone/>
                      </a:pPr>
                      <a:r>
                        <a:rPr lang="en-US" sz="2400" u="none" strike="noStrike" cap="none">
                          <a:latin typeface="Times New Roman" panose="02020603050405020304"/>
                          <a:ea typeface="Times New Roman" panose="02020603050405020304"/>
                          <a:cs typeface="Times New Roman" panose="02020603050405020304"/>
                          <a:sym typeface="Times New Roman" panose="02020603050405020304"/>
                        </a:rPr>
                        <a:t>1</a:t>
                      </a:r>
                      <a:endParaRPr sz="2400" u="none" strike="noStrike" cap="none">
                        <a:latin typeface="Calibri" panose="020F0502020204030204"/>
                        <a:ea typeface="Calibri" panose="020F0502020204030204"/>
                        <a:cs typeface="Calibri" panose="020F0502020204030204"/>
                        <a:sym typeface="Calibri" panose="020F05020202040302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15000"/>
                        </a:lnSpc>
                        <a:spcBef>
                          <a:spcPts val="0"/>
                        </a:spcBef>
                        <a:spcAft>
                          <a:spcPts val="0"/>
                        </a:spcAft>
                        <a:buNone/>
                      </a:pPr>
                      <a:r>
                        <a:rPr lang="en-US" sz="2400" u="none" strike="noStrike" cap="none" dirty="0">
                          <a:latin typeface="Times New Roman" panose="02020603050405020304"/>
                          <a:ea typeface="Times New Roman" panose="02020603050405020304"/>
                          <a:cs typeface="Times New Roman" panose="02020603050405020304"/>
                          <a:sym typeface="Times New Roman" panose="02020603050405020304"/>
                        </a:rPr>
                        <a:t> U22CS357</a:t>
                      </a:r>
                      <a:endParaRPr sz="2400" u="none" strike="noStrike" cap="none" dirty="0">
                        <a:latin typeface="Calibri" panose="020F0502020204030204"/>
                        <a:ea typeface="Calibri" panose="020F0502020204030204"/>
                        <a:cs typeface="Calibri" panose="020F0502020204030204"/>
                        <a:sym typeface="Calibri" panose="020F05020202040302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15000"/>
                        </a:lnSpc>
                        <a:spcBef>
                          <a:spcPts val="0"/>
                        </a:spcBef>
                        <a:spcAft>
                          <a:spcPts val="0"/>
                        </a:spcAft>
                        <a:buNone/>
                      </a:pPr>
                      <a:r>
                        <a:rPr lang="en-US" sz="2400" u="none" strike="noStrike" cap="none" dirty="0">
                          <a:latin typeface="Times New Roman" panose="02020603050405020304"/>
                          <a:ea typeface="Times New Roman" panose="02020603050405020304"/>
                          <a:cs typeface="Times New Roman" panose="02020603050405020304"/>
                          <a:sym typeface="Times New Roman" panose="02020603050405020304"/>
                        </a:rPr>
                        <a:t> Kattamoori Sreeraag</a:t>
                      </a:r>
                      <a:endParaRPr sz="2400" u="none" strike="noStrike" cap="none" dirty="0">
                        <a:latin typeface="Calibri" panose="020F0502020204030204"/>
                        <a:ea typeface="Calibri" panose="020F0502020204030204"/>
                        <a:cs typeface="Calibri" panose="020F0502020204030204"/>
                        <a:sym typeface="Calibri" panose="020F05020202040302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630350">
                <a:tc>
                  <a:txBody>
                    <a:bodyPr/>
                    <a:lstStyle/>
                    <a:p>
                      <a:pPr marL="0" marR="0" lvl="0" indent="0" algn="ctr" rtl="0">
                        <a:lnSpc>
                          <a:spcPct val="115000"/>
                        </a:lnSpc>
                        <a:spcBef>
                          <a:spcPts val="0"/>
                        </a:spcBef>
                        <a:spcAft>
                          <a:spcPts val="0"/>
                        </a:spcAft>
                        <a:buNone/>
                      </a:pPr>
                      <a:r>
                        <a:rPr lang="en-US" sz="2400" u="none" strike="noStrike" cap="none" dirty="0">
                          <a:latin typeface="Times New Roman" panose="02020603050405020304"/>
                          <a:ea typeface="Times New Roman" panose="02020603050405020304"/>
                          <a:cs typeface="Times New Roman" panose="02020603050405020304"/>
                          <a:sym typeface="Times New Roman" panose="02020603050405020304"/>
                        </a:rPr>
                        <a:t>2</a:t>
                      </a:r>
                      <a:endParaRPr sz="2400" u="none" strike="noStrike" cap="none" dirty="0">
                        <a:latin typeface="Calibri" panose="020F0502020204030204"/>
                        <a:ea typeface="Calibri" panose="020F0502020204030204"/>
                        <a:cs typeface="Calibri" panose="020F0502020204030204"/>
                        <a:sym typeface="Calibri" panose="020F05020202040302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15000"/>
                        </a:lnSpc>
                        <a:spcBef>
                          <a:spcPts val="0"/>
                        </a:spcBef>
                        <a:spcAft>
                          <a:spcPts val="0"/>
                        </a:spcAft>
                        <a:buNone/>
                      </a:pPr>
                      <a:r>
                        <a:rPr lang="en-US" sz="2400" u="none" strike="noStrike" cap="none" dirty="0">
                          <a:latin typeface="Times New Roman" panose="02020603050405020304"/>
                          <a:ea typeface="Times New Roman" panose="02020603050405020304"/>
                          <a:cs typeface="Times New Roman" panose="02020603050405020304"/>
                          <a:sym typeface="Times New Roman" panose="02020603050405020304"/>
                        </a:rPr>
                        <a:t> U22CS361</a:t>
                      </a:r>
                      <a:endParaRPr sz="2400" u="none" strike="noStrike" cap="none" dirty="0">
                        <a:latin typeface="Calibri" panose="020F0502020204030204"/>
                        <a:ea typeface="Calibri" panose="020F0502020204030204"/>
                        <a:cs typeface="Calibri" panose="020F0502020204030204"/>
                        <a:sym typeface="Calibri" panose="020F05020202040302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15000"/>
                        </a:lnSpc>
                        <a:spcBef>
                          <a:spcPts val="0"/>
                        </a:spcBef>
                        <a:spcAft>
                          <a:spcPts val="0"/>
                        </a:spcAft>
                        <a:buNone/>
                      </a:pPr>
                      <a:r>
                        <a:rPr lang="en-US" sz="2400" u="none" strike="noStrike" cap="none" dirty="0">
                          <a:latin typeface="Times New Roman" panose="02020603050405020304"/>
                          <a:ea typeface="Times New Roman" panose="02020603050405020304"/>
                          <a:cs typeface="Times New Roman" panose="02020603050405020304"/>
                          <a:sym typeface="Times New Roman" panose="02020603050405020304"/>
                        </a:rPr>
                        <a:t> Keesara Vivek Reddy</a:t>
                      </a:r>
                      <a:endParaRPr sz="2400" u="none" strike="noStrike" cap="none" dirty="0">
                        <a:latin typeface="Calibri" panose="020F0502020204030204"/>
                        <a:ea typeface="Calibri" panose="020F0502020204030204"/>
                        <a:cs typeface="Calibri" panose="020F0502020204030204"/>
                        <a:sym typeface="Calibri" panose="020F05020202040302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630350">
                <a:tc>
                  <a:txBody>
                    <a:bodyPr/>
                    <a:lstStyle/>
                    <a:p>
                      <a:pPr marL="0" marR="0" lvl="0" indent="0" algn="ctr" rtl="0">
                        <a:lnSpc>
                          <a:spcPct val="115000"/>
                        </a:lnSpc>
                        <a:spcBef>
                          <a:spcPts val="0"/>
                        </a:spcBef>
                        <a:spcAft>
                          <a:spcPts val="0"/>
                        </a:spcAft>
                        <a:buNone/>
                      </a:pPr>
                      <a:r>
                        <a:rPr lang="en-US" sz="2400" u="none" strike="noStrike" cap="none">
                          <a:latin typeface="Times New Roman" panose="02020603050405020304"/>
                          <a:ea typeface="Times New Roman" panose="02020603050405020304"/>
                          <a:cs typeface="Times New Roman" panose="02020603050405020304"/>
                          <a:sym typeface="Times New Roman" panose="02020603050405020304"/>
                        </a:rPr>
                        <a:t>3</a:t>
                      </a:r>
                      <a:endParaRPr sz="2400" u="none" strike="noStrike" cap="none">
                        <a:latin typeface="Calibri" panose="020F0502020204030204"/>
                        <a:ea typeface="Calibri" panose="020F0502020204030204"/>
                        <a:cs typeface="Calibri" panose="020F0502020204030204"/>
                        <a:sym typeface="Calibri" panose="020F05020202040302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15000"/>
                        </a:lnSpc>
                        <a:spcBef>
                          <a:spcPts val="0"/>
                        </a:spcBef>
                        <a:spcAft>
                          <a:spcPts val="0"/>
                        </a:spcAft>
                        <a:buNone/>
                      </a:pPr>
                      <a:r>
                        <a:rPr lang="en-US" sz="2400" u="none" strike="noStrike" cap="none" dirty="0">
                          <a:latin typeface="Times New Roman" panose="02020603050405020304"/>
                          <a:ea typeface="Times New Roman" panose="02020603050405020304"/>
                          <a:cs typeface="Times New Roman" panose="02020603050405020304"/>
                          <a:sym typeface="Times New Roman" panose="02020603050405020304"/>
                        </a:rPr>
                        <a:t> U22CS334</a:t>
                      </a:r>
                      <a:endParaRPr sz="2400" u="none" strike="noStrike" cap="none" dirty="0">
                        <a:latin typeface="Calibri" panose="020F0502020204030204"/>
                        <a:ea typeface="Calibri" panose="020F0502020204030204"/>
                        <a:cs typeface="Calibri" panose="020F0502020204030204"/>
                        <a:sym typeface="Calibri" panose="020F05020202040302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15000"/>
                        </a:lnSpc>
                        <a:spcBef>
                          <a:spcPts val="0"/>
                        </a:spcBef>
                        <a:spcAft>
                          <a:spcPts val="0"/>
                        </a:spcAft>
                        <a:buNone/>
                      </a:pPr>
                      <a:r>
                        <a:rPr lang="en-US" sz="2400" u="none" strike="noStrike" cap="none" dirty="0">
                          <a:latin typeface="Times New Roman" panose="02020603050405020304"/>
                          <a:ea typeface="Times New Roman" panose="02020603050405020304"/>
                          <a:cs typeface="Times New Roman" panose="02020603050405020304"/>
                          <a:sym typeface="Times New Roman" panose="02020603050405020304"/>
                        </a:rPr>
                        <a:t> Kandela Eswar</a:t>
                      </a:r>
                      <a:endParaRPr sz="2400" u="none" strike="noStrike" cap="none" dirty="0">
                        <a:latin typeface="Calibri" panose="020F0502020204030204"/>
                        <a:ea typeface="Calibri" panose="020F0502020204030204"/>
                        <a:cs typeface="Calibri" panose="020F0502020204030204"/>
                        <a:sym typeface="Calibri" panose="020F05020202040302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630350">
                <a:tc>
                  <a:txBody>
                    <a:bodyPr/>
                    <a:lstStyle/>
                    <a:p>
                      <a:pPr marL="0" marR="0" lvl="0" indent="0" algn="ctr" rtl="0">
                        <a:lnSpc>
                          <a:spcPct val="115000"/>
                        </a:lnSpc>
                        <a:spcBef>
                          <a:spcPts val="0"/>
                        </a:spcBef>
                        <a:spcAft>
                          <a:spcPts val="0"/>
                        </a:spcAft>
                        <a:buNone/>
                      </a:pPr>
                      <a:r>
                        <a:rPr lang="en-US" sz="2400" u="none" strike="noStrike" cap="none">
                          <a:latin typeface="Times New Roman" panose="02020603050405020304"/>
                          <a:ea typeface="Times New Roman" panose="02020603050405020304"/>
                          <a:cs typeface="Times New Roman" panose="02020603050405020304"/>
                          <a:sym typeface="Times New Roman" panose="02020603050405020304"/>
                        </a:rPr>
                        <a:t>4</a:t>
                      </a:r>
                      <a:endParaRPr sz="2400" u="none" strike="noStrike" cap="none">
                        <a:latin typeface="Calibri" panose="020F0502020204030204"/>
                        <a:ea typeface="Calibri" panose="020F0502020204030204"/>
                        <a:cs typeface="Calibri" panose="020F0502020204030204"/>
                        <a:sym typeface="Calibri" panose="020F05020202040302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15000"/>
                        </a:lnSpc>
                        <a:spcBef>
                          <a:spcPts val="0"/>
                        </a:spcBef>
                        <a:spcAft>
                          <a:spcPts val="0"/>
                        </a:spcAft>
                        <a:buNone/>
                      </a:pPr>
                      <a:r>
                        <a:rPr lang="en-US" sz="2400" u="none" strike="noStrike" cap="none" dirty="0">
                          <a:latin typeface="Times New Roman" panose="02020603050405020304"/>
                          <a:ea typeface="Times New Roman" panose="02020603050405020304"/>
                          <a:cs typeface="Times New Roman" panose="02020603050405020304"/>
                          <a:sym typeface="Times New Roman" panose="02020603050405020304"/>
                        </a:rPr>
                        <a:t> U22CS327</a:t>
                      </a:r>
                      <a:endParaRPr sz="2400" u="none" strike="noStrike" cap="none" dirty="0">
                        <a:latin typeface="Calibri" panose="020F0502020204030204"/>
                        <a:ea typeface="Calibri" panose="020F0502020204030204"/>
                        <a:cs typeface="Calibri" panose="020F0502020204030204"/>
                        <a:sym typeface="Calibri" panose="020F05020202040302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just" rtl="0">
                        <a:lnSpc>
                          <a:spcPct val="115000"/>
                        </a:lnSpc>
                        <a:spcBef>
                          <a:spcPts val="0"/>
                        </a:spcBef>
                        <a:spcAft>
                          <a:spcPts val="0"/>
                        </a:spcAft>
                        <a:buNone/>
                      </a:pPr>
                      <a:r>
                        <a:rPr lang="en-US" sz="2400" u="none" strike="noStrike" cap="none" dirty="0">
                          <a:latin typeface="Times New Roman" panose="02020603050405020304"/>
                          <a:ea typeface="Times New Roman" panose="02020603050405020304"/>
                          <a:cs typeface="Times New Roman" panose="02020603050405020304"/>
                          <a:sym typeface="Times New Roman" panose="02020603050405020304"/>
                        </a:rPr>
                        <a:t> Kalluru Venkata Subba Reddy </a:t>
                      </a:r>
                      <a:endParaRPr sz="2400" u="none" strike="noStrike" cap="none" dirty="0">
                        <a:latin typeface="Calibri" panose="020F0502020204030204"/>
                        <a:ea typeface="Calibri" panose="020F0502020204030204"/>
                        <a:cs typeface="Calibri" panose="020F0502020204030204"/>
                        <a:sym typeface="Calibri" panose="020F0502020204030204"/>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11" name="Google Shape;111;p1"/>
          <p:cNvSpPr/>
          <p:nvPr/>
        </p:nvSpPr>
        <p:spPr>
          <a:xfrm>
            <a:off x="1384879" y="5583604"/>
            <a:ext cx="495191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dirty="0">
                <a:solidFill>
                  <a:schemeClr val="dk1"/>
                </a:solidFill>
                <a:latin typeface="Calibri" panose="020F0502020204030204"/>
                <a:ea typeface="Calibri" panose="020F0502020204030204"/>
                <a:cs typeface="Calibri" panose="020F0502020204030204"/>
                <a:sym typeface="Calibri" panose="020F0502020204030204"/>
              </a:rPr>
              <a:t>GUIDED BY: Ms. </a:t>
            </a:r>
            <a:r>
              <a:rPr lang="en-US" sz="2200" b="1"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E</a:t>
            </a:r>
            <a:r>
              <a:rPr lang="en-US" sz="2400" b="1" i="0" u="none" strike="noStrike" cap="none" dirty="0">
                <a:solidFill>
                  <a:schemeClr val="dk1"/>
                </a:solidFill>
                <a:latin typeface="Calibri" panose="020F0502020204030204"/>
                <a:ea typeface="Calibri" panose="020F0502020204030204"/>
                <a:cs typeface="Calibri" panose="020F0502020204030204"/>
                <a:sym typeface="Calibri" panose="020F0502020204030204"/>
              </a:rPr>
              <a:t>.</a:t>
            </a:r>
            <a:r>
              <a:rPr lang="en-US" sz="2200" b="1" i="0" u="none" strike="noStrike" cap="none"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Benitha </a:t>
            </a:r>
            <a:r>
              <a:rPr lang="en-US" sz="2200" b="1"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Sowmiya</a:t>
            </a:r>
            <a:endParaRPr sz="2200" b="1"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11" name="Rectangle 2"/>
          <p:cNvSpPr>
            <a:spLocks noChangeArrowheads="1"/>
          </p:cNvSpPr>
          <p:nvPr/>
        </p:nvSpPr>
        <p:spPr bwMode="auto">
          <a:xfrm>
            <a:off x="0" y="625331"/>
            <a:ext cx="360346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BATCH No.: </a:t>
            </a:r>
            <a:r>
              <a:rPr kumimoji="0" lang="en-US" altLang="zh-CN" sz="20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L5</a:t>
            </a:r>
            <a:r>
              <a:rPr kumimoji="0" lang="en-US" altLang="zh-CN" sz="24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kumimoji="0" lang="en-US" altLang="zh-CN" sz="2400" b="0" i="0" u="none" strike="noStrike" cap="none" normalizeH="0" baseline="0" dirty="0">
              <a:ln>
                <a:noFill/>
              </a:ln>
              <a:solidFill>
                <a:schemeClr val="tx1"/>
              </a:solidFill>
              <a:effectLst/>
            </a:endParaRPr>
          </a:p>
        </p:txBody>
      </p:sp>
      <p:sp>
        <p:nvSpPr>
          <p:cNvPr id="12" name="Rectangle 2"/>
          <p:cNvSpPr>
            <a:spLocks noChangeArrowheads="1"/>
          </p:cNvSpPr>
          <p:nvPr/>
        </p:nvSpPr>
        <p:spPr bwMode="auto">
          <a:xfrm>
            <a:off x="0" y="116043"/>
            <a:ext cx="78028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eaLnBrk="0" fontAlgn="base" hangingPunct="0">
              <a:spcBef>
                <a:spcPct val="0"/>
              </a:spcBef>
              <a:spcAft>
                <a:spcPct val="0"/>
              </a:spcAft>
              <a:buClrTx/>
            </a:pPr>
            <a:r>
              <a:rPr lang="en-IN" sz="2400" b="1" dirty="0">
                <a:latin typeface="Times New Roman" panose="02020603050405020304" pitchFamily="18" charset="0"/>
                <a:ea typeface="Calibri" panose="020F0502020204030204" pitchFamily="34" charset="0"/>
                <a:cs typeface="Times New Roman" panose="02020603050405020304" pitchFamily="18" charset="0"/>
              </a:rPr>
              <a:t>U20CSPR02</a:t>
            </a:r>
            <a:r>
              <a:rPr lang="en-IN" sz="2400" dirty="0"/>
              <a:t>- </a:t>
            </a:r>
            <a:r>
              <a:rPr lang="en-US" altLang="zh-CN" sz="2400" b="1" dirty="0">
                <a:latin typeface="Times New Roman" panose="02020603050405020304" pitchFamily="18" charset="0"/>
                <a:ea typeface="Calibri" panose="020F0502020204030204" pitchFamily="34" charset="0"/>
                <a:cs typeface="Times New Roman" panose="02020603050405020304" pitchFamily="18" charset="0"/>
              </a:rPr>
              <a:t>MAJOR PROJECT</a:t>
            </a:r>
            <a:endParaRPr kumimoji="0" lang="en-US" altLang="zh-CN" sz="2400" b="0" i="0" u="none" strike="noStrike" cap="none" normalizeH="0" baseline="0" dirty="0">
              <a:ln>
                <a:noFill/>
              </a:ln>
              <a:solidFill>
                <a:schemeClr val="tx1"/>
              </a:solidFill>
              <a:effectLst/>
            </a:endParaRPr>
          </a:p>
        </p:txBody>
      </p:sp>
      <p:sp>
        <p:nvSpPr>
          <p:cNvPr id="13" name="Rectangle 12"/>
          <p:cNvSpPr/>
          <p:nvPr/>
        </p:nvSpPr>
        <p:spPr>
          <a:xfrm>
            <a:off x="0" y="1197067"/>
            <a:ext cx="4315605" cy="461665"/>
          </a:xfrm>
          <a:prstGeom prst="rect">
            <a:avLst/>
          </a:prstGeom>
        </p:spPr>
        <p:txBody>
          <a:bodyPr wrap="none">
            <a:spAutoFit/>
          </a:bodyPr>
          <a:lstStyle/>
          <a:p>
            <a:r>
              <a:rPr lang="en-IN" sz="2400" b="1" dirty="0">
                <a:latin typeface="Times New Roman" panose="02020603050405020304" pitchFamily="18" charset="0"/>
                <a:ea typeface="Calibri" panose="020F0502020204030204" pitchFamily="34" charset="0"/>
                <a:cs typeface="Times New Roman" panose="02020603050405020304" pitchFamily="18" charset="0"/>
              </a:rPr>
              <a:t>DOMAIN : </a:t>
            </a:r>
            <a:r>
              <a:rPr lang="en-IN" sz="2000" b="1" dirty="0">
                <a:latin typeface="Times New Roman" panose="02020603050405020304" pitchFamily="18" charset="0"/>
                <a:ea typeface="Calibri" panose="020F0502020204030204" pitchFamily="34" charset="0"/>
                <a:cs typeface="Times New Roman" panose="02020603050405020304" pitchFamily="18" charset="0"/>
              </a:rPr>
              <a:t>Blockchain Technology</a:t>
            </a:r>
          </a:p>
        </p:txBody>
      </p:sp>
      <p:sp>
        <p:nvSpPr>
          <p:cNvPr id="14" name="Rectangle 13"/>
          <p:cNvSpPr/>
          <p:nvPr/>
        </p:nvSpPr>
        <p:spPr>
          <a:xfrm>
            <a:off x="0" y="1768803"/>
            <a:ext cx="11768857" cy="830997"/>
          </a:xfrm>
          <a:prstGeom prst="rect">
            <a:avLst/>
          </a:prstGeom>
        </p:spPr>
        <p:txBody>
          <a:bodyPr wrap="square">
            <a:spAutoFit/>
          </a:bodyPr>
          <a:lstStyle/>
          <a:p>
            <a:r>
              <a:rPr lang="en-IN" sz="2400" b="1" dirty="0">
                <a:latin typeface="Times New Roman" panose="02020603050405020304" pitchFamily="18" charset="0"/>
                <a:ea typeface="Calibri" panose="020F0502020204030204" pitchFamily="34" charset="0"/>
                <a:cs typeface="Times New Roman" panose="02020603050405020304" pitchFamily="18" charset="0"/>
              </a:rPr>
              <a:t>PROJECT TITLE : </a:t>
            </a:r>
            <a:r>
              <a:rPr lang="en-US" sz="2400" b="1" dirty="0">
                <a:latin typeface="Times New Roman" panose="02020603050405020304" pitchFamily="18" charset="0"/>
                <a:ea typeface="Calibri" panose="020F0502020204030204" pitchFamily="34" charset="0"/>
                <a:cs typeface="Times New Roman" panose="02020603050405020304" pitchFamily="18" charset="0"/>
              </a:rPr>
              <a:t>A Blockchain-Enabled NFT Marketplace for Transparent and          </a:t>
            </a:r>
            <a:br>
              <a:rPr lang="en-US" sz="2400" b="1" dirty="0">
                <a:latin typeface="Times New Roman" panose="02020603050405020304" pitchFamily="18" charset="0"/>
                <a:ea typeface="Calibri" panose="020F0502020204030204" pitchFamily="34" charset="0"/>
                <a:cs typeface="Times New Roman" panose="02020603050405020304" pitchFamily="18" charset="0"/>
              </a:rPr>
            </a:br>
            <a:r>
              <a:rPr lang="en-US" sz="2400" b="1" dirty="0">
                <a:latin typeface="Times New Roman" panose="02020603050405020304" pitchFamily="18" charset="0"/>
                <a:ea typeface="Calibri" panose="020F0502020204030204" pitchFamily="34" charset="0"/>
                <a:cs typeface="Times New Roman" panose="02020603050405020304" pitchFamily="18" charset="0"/>
              </a:rPr>
              <a:t>                                                 Immutable Digital Asset Ownership</a:t>
            </a:r>
            <a:r>
              <a:rPr lang="en-IN" sz="2400" b="1" dirty="0">
                <a:latin typeface="Times New Roman" panose="02020603050405020304" pitchFamily="18" charset="0"/>
                <a:ea typeface="Calibri" panose="020F0502020204030204" pitchFamily="34" charset="0"/>
                <a:cs typeface="Times New Roman" panose="02020603050405020304" pitchFamily="18" charset="0"/>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
          <p:cNvSpPr txBox="1">
            <a:spLocks noGrp="1"/>
          </p:cNvSpPr>
          <p:nvPr>
            <p:ph type="sldNum" idx="12"/>
          </p:nvPr>
        </p:nvSpPr>
        <p:spPr>
          <a:xfrm>
            <a:off x="10456832" y="6386173"/>
            <a:ext cx="1312025" cy="365125"/>
          </a:xfrm>
          <a:prstGeom prst="rect">
            <a:avLst/>
          </a:prstGeom>
          <a:solidFill>
            <a:srgbClr val="0070C0"/>
          </a:solid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2000"/>
              <a:t>2</a:t>
            </a:fld>
            <a:endParaRPr sz="2000"/>
          </a:p>
        </p:txBody>
      </p:sp>
      <p:sp>
        <p:nvSpPr>
          <p:cNvPr id="122" name="Google Shape;122;p2"/>
          <p:cNvSpPr txBox="1">
            <a:spLocks noGrp="1"/>
          </p:cNvSpPr>
          <p:nvPr>
            <p:ph type="ftr" idx="11"/>
          </p:nvPr>
        </p:nvSpPr>
        <p:spPr>
          <a:xfrm>
            <a:off x="1069431" y="6386173"/>
            <a:ext cx="9136023" cy="356382"/>
          </a:xfrm>
          <a:prstGeom prst="rect">
            <a:avLst/>
          </a:prstGeom>
          <a:solidFill>
            <a:srgbClr val="0070C0"/>
          </a:solid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2000"/>
              <a:t>DEPARTMENT OF COMPUTER SCIENCE AND ENGINEERING</a:t>
            </a:r>
            <a:endParaRPr sz="2000"/>
          </a:p>
        </p:txBody>
      </p:sp>
      <p:pic>
        <p:nvPicPr>
          <p:cNvPr id="123" name="Google Shape;123;p2"/>
          <p:cNvPicPr preferRelativeResize="0"/>
          <p:nvPr/>
        </p:nvPicPr>
        <p:blipFill rotWithShape="1">
          <a:blip r:embed="rId3"/>
          <a:srcRect/>
          <a:stretch>
            <a:fillRect/>
          </a:stretch>
        </p:blipFill>
        <p:spPr>
          <a:xfrm>
            <a:off x="8721665" y="37033"/>
            <a:ext cx="3470335" cy="689927"/>
          </a:xfrm>
          <a:prstGeom prst="rect">
            <a:avLst/>
          </a:prstGeom>
          <a:noFill/>
          <a:ln>
            <a:noFill/>
          </a:ln>
        </p:spPr>
      </p:pic>
      <p:pic>
        <p:nvPicPr>
          <p:cNvPr id="124" name="Google Shape;124;p2"/>
          <p:cNvPicPr preferRelativeResize="0"/>
          <p:nvPr/>
        </p:nvPicPr>
        <p:blipFill rotWithShape="1">
          <a:blip r:embed="rId4"/>
          <a:srcRect/>
          <a:stretch>
            <a:fillRect/>
          </a:stretch>
        </p:blipFill>
        <p:spPr>
          <a:xfrm>
            <a:off x="0" y="5704366"/>
            <a:ext cx="1153634" cy="1153634"/>
          </a:xfrm>
          <a:prstGeom prst="rect">
            <a:avLst/>
          </a:prstGeom>
          <a:noFill/>
          <a:ln>
            <a:noFill/>
          </a:ln>
        </p:spPr>
      </p:pic>
      <p:sp>
        <p:nvSpPr>
          <p:cNvPr id="125" name="Google Shape;125;p2"/>
          <p:cNvSpPr/>
          <p:nvPr/>
        </p:nvSpPr>
        <p:spPr>
          <a:xfrm>
            <a:off x="3230880" y="0"/>
            <a:ext cx="3603463" cy="461665"/>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CONTENTS</a:t>
            </a:r>
            <a:r>
              <a:rPr lang="en-US" sz="24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dirty="0"/>
          </a:p>
        </p:txBody>
      </p:sp>
      <p:sp>
        <p:nvSpPr>
          <p:cNvPr id="4" name="TextBox 3"/>
          <p:cNvSpPr txBox="1"/>
          <p:nvPr/>
        </p:nvSpPr>
        <p:spPr>
          <a:xfrm>
            <a:off x="1336131" y="-20320"/>
            <a:ext cx="7536180" cy="6275051"/>
          </a:xfrm>
          <a:prstGeom prst="rect">
            <a:avLst/>
          </a:prstGeom>
          <a:noFill/>
        </p:spPr>
        <p:txBody>
          <a:bodyPr wrap="square">
            <a:spAutoFit/>
          </a:bodyPr>
          <a:lstStyle/>
          <a:p>
            <a:pPr marL="285750" marR="0" lvl="0" indent="-285750" algn="l" rtl="0">
              <a:lnSpc>
                <a:spcPct val="150000"/>
              </a:lnSpc>
              <a:spcBef>
                <a:spcPts val="0"/>
              </a:spcBef>
              <a:spcAft>
                <a:spcPts val="0"/>
              </a:spcAft>
              <a:buClr>
                <a:srgbClr val="FF0000"/>
              </a:buClr>
              <a:buFont typeface="Wingdings" panose="05000000000000000000" pitchFamily="2" charset="2"/>
              <a:buChar char="Ø"/>
            </a:pPr>
            <a:r>
              <a:rPr lang="en-US" sz="18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Abstract</a:t>
            </a:r>
          </a:p>
          <a:p>
            <a:pPr marL="285750" indent="-285750">
              <a:lnSpc>
                <a:spcPct val="150000"/>
              </a:lnSpc>
              <a:buClr>
                <a:srgbClr val="FF0000"/>
              </a:buClr>
              <a:buFont typeface="Wingdings" panose="05000000000000000000" pitchFamily="2" charset="2"/>
              <a:buChar char="Ø"/>
            </a:pPr>
            <a:r>
              <a:rPr lang="en-US" sz="18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Objective</a:t>
            </a:r>
          </a:p>
          <a:p>
            <a:pPr marL="285750" indent="-285750">
              <a:lnSpc>
                <a:spcPct val="150000"/>
              </a:lnSpc>
              <a:buClr>
                <a:srgbClr val="FF0000"/>
              </a:buClr>
              <a:buFont typeface="Wingdings" panose="05000000000000000000" pitchFamily="2" charset="2"/>
              <a:buChar char="Ø"/>
            </a:pPr>
            <a:r>
              <a:rPr lang="en-US" sz="18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Introduction</a:t>
            </a:r>
          </a:p>
          <a:p>
            <a:pPr marL="285750" indent="-285750">
              <a:lnSpc>
                <a:spcPct val="150000"/>
              </a:lnSpc>
              <a:buClr>
                <a:srgbClr val="FF0000"/>
              </a:buClr>
              <a:buFont typeface="Wingdings" panose="05000000000000000000" pitchFamily="2" charset="2"/>
              <a:buChar char="Ø"/>
            </a:pPr>
            <a:r>
              <a:rPr lang="en-US" sz="18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Motivation of the project</a:t>
            </a:r>
          </a:p>
          <a:p>
            <a:pPr marL="285750" indent="-285750">
              <a:lnSpc>
                <a:spcPct val="150000"/>
              </a:lnSpc>
              <a:buClr>
                <a:srgbClr val="FF0000"/>
              </a:buClr>
              <a:buFont typeface="Wingdings" panose="05000000000000000000" pitchFamily="2" charset="2"/>
              <a:buChar char="Ø"/>
            </a:pPr>
            <a:r>
              <a:rPr lang="en-US" sz="18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Literature Survey</a:t>
            </a:r>
          </a:p>
          <a:p>
            <a:pPr marL="285750" lvl="0" indent="-285750">
              <a:lnSpc>
                <a:spcPct val="150000"/>
              </a:lnSpc>
              <a:buClr>
                <a:srgbClr val="FF0000"/>
              </a:buClr>
              <a:buFont typeface="Wingdings" panose="05000000000000000000" pitchFamily="2" charset="2"/>
              <a:buChar char="Ø"/>
            </a:pPr>
            <a:r>
              <a:rPr lang="en-US" sz="18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Problem Statement</a:t>
            </a:r>
          </a:p>
          <a:p>
            <a:pPr marL="285750" marR="0" lvl="0" indent="-285750" algn="l" rtl="0">
              <a:lnSpc>
                <a:spcPct val="150000"/>
              </a:lnSpc>
              <a:spcBef>
                <a:spcPts val="0"/>
              </a:spcBef>
              <a:spcAft>
                <a:spcPts val="0"/>
              </a:spcAft>
              <a:buClr>
                <a:srgbClr val="FF0000"/>
              </a:buClr>
              <a:buFont typeface="Wingdings" panose="05000000000000000000" pitchFamily="2" charset="2"/>
              <a:buChar char="Ø"/>
            </a:pPr>
            <a:r>
              <a:rPr lang="en-US" sz="18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Existing System</a:t>
            </a:r>
          </a:p>
          <a:p>
            <a:pPr marL="285750" marR="0" lvl="0" indent="-285750" algn="l" rtl="0">
              <a:lnSpc>
                <a:spcPct val="150000"/>
              </a:lnSpc>
              <a:spcBef>
                <a:spcPts val="0"/>
              </a:spcBef>
              <a:spcAft>
                <a:spcPts val="0"/>
              </a:spcAft>
              <a:buClr>
                <a:srgbClr val="FF0000"/>
              </a:buClr>
              <a:buFont typeface="Wingdings" panose="05000000000000000000" pitchFamily="2" charset="2"/>
              <a:buChar char="Ø"/>
            </a:pPr>
            <a:r>
              <a:rPr lang="en-US" sz="18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Proposed System </a:t>
            </a:r>
          </a:p>
          <a:p>
            <a:pPr marL="285750" marR="0" lvl="0" indent="-285750" algn="l" rtl="0">
              <a:lnSpc>
                <a:spcPct val="150000"/>
              </a:lnSpc>
              <a:spcBef>
                <a:spcPts val="0"/>
              </a:spcBef>
              <a:spcAft>
                <a:spcPts val="0"/>
              </a:spcAft>
              <a:buClr>
                <a:srgbClr val="FF0000"/>
              </a:buClr>
              <a:buFont typeface="Wingdings" panose="05000000000000000000" pitchFamily="2" charset="2"/>
              <a:buChar char="Ø"/>
            </a:pPr>
            <a:r>
              <a:rPr lang="en-US" sz="18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Algorithms/Methodology of the proposed work</a:t>
            </a:r>
          </a:p>
          <a:p>
            <a:pPr marL="285750" marR="0" lvl="0" indent="-285750" algn="l" rtl="0">
              <a:lnSpc>
                <a:spcPct val="150000"/>
              </a:lnSpc>
              <a:spcBef>
                <a:spcPts val="0"/>
              </a:spcBef>
              <a:spcAft>
                <a:spcPts val="0"/>
              </a:spcAft>
              <a:buClr>
                <a:srgbClr val="FF0000"/>
              </a:buClr>
              <a:buFont typeface="Wingdings" panose="05000000000000000000" pitchFamily="2" charset="2"/>
              <a:buChar char="Ø"/>
            </a:pPr>
            <a:r>
              <a:rPr lang="en-US" sz="18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System Architecture</a:t>
            </a:r>
          </a:p>
          <a:p>
            <a:pPr marL="285750" marR="0" lvl="0" indent="-285750" algn="l" rtl="0">
              <a:lnSpc>
                <a:spcPct val="150000"/>
              </a:lnSpc>
              <a:spcBef>
                <a:spcPts val="0"/>
              </a:spcBef>
              <a:spcAft>
                <a:spcPts val="0"/>
              </a:spcAft>
              <a:buClr>
                <a:srgbClr val="FF0000"/>
              </a:buClr>
              <a:buFont typeface="Wingdings" panose="05000000000000000000" pitchFamily="2" charset="2"/>
              <a:buChar char="Ø"/>
            </a:pPr>
            <a:r>
              <a:rPr lang="en-US" sz="18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Modules</a:t>
            </a:r>
          </a:p>
          <a:p>
            <a:pPr marL="285750" marR="0" lvl="0" indent="-285750" algn="l" rtl="0">
              <a:lnSpc>
                <a:spcPct val="150000"/>
              </a:lnSpc>
              <a:spcBef>
                <a:spcPts val="0"/>
              </a:spcBef>
              <a:spcAft>
                <a:spcPts val="0"/>
              </a:spcAft>
              <a:buClr>
                <a:srgbClr val="FF0000"/>
              </a:buClr>
              <a:buFont typeface="Wingdings" panose="05000000000000000000" pitchFamily="2" charset="2"/>
              <a:buChar char="Ø"/>
            </a:pPr>
            <a:r>
              <a:rPr lang="en-US" sz="18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Source Code</a:t>
            </a:r>
          </a:p>
          <a:p>
            <a:pPr marL="285750" marR="0" lvl="0" indent="-285750" algn="l" rtl="0">
              <a:lnSpc>
                <a:spcPct val="150000"/>
              </a:lnSpc>
              <a:spcBef>
                <a:spcPts val="0"/>
              </a:spcBef>
              <a:spcAft>
                <a:spcPts val="0"/>
              </a:spcAft>
              <a:buClr>
                <a:srgbClr val="FF0000"/>
              </a:buClr>
              <a:buFont typeface="Wingdings" panose="05000000000000000000" pitchFamily="2" charset="2"/>
              <a:buChar char="Ø"/>
            </a:pPr>
            <a:r>
              <a:rPr lang="en-US" sz="18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Result and Discussion</a:t>
            </a:r>
          </a:p>
          <a:p>
            <a:pPr marL="285750" marR="0" lvl="0" indent="-285750" algn="l" rtl="0">
              <a:lnSpc>
                <a:spcPct val="150000"/>
              </a:lnSpc>
              <a:spcBef>
                <a:spcPts val="0"/>
              </a:spcBef>
              <a:spcAft>
                <a:spcPts val="0"/>
              </a:spcAft>
              <a:buClr>
                <a:srgbClr val="FF0000"/>
              </a:buClr>
              <a:buFont typeface="Wingdings" panose="05000000000000000000" pitchFamily="2" charset="2"/>
              <a:buChar char="Ø"/>
            </a:pPr>
            <a:r>
              <a:rPr lang="en-US" sz="18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Conclusion and Future Scope</a:t>
            </a:r>
          </a:p>
          <a:p>
            <a:pPr marL="285750" marR="0" lvl="0" indent="-285750" algn="l" rtl="0">
              <a:lnSpc>
                <a:spcPct val="150000"/>
              </a:lnSpc>
              <a:spcBef>
                <a:spcPts val="0"/>
              </a:spcBef>
              <a:spcAft>
                <a:spcPts val="0"/>
              </a:spcAft>
              <a:buClr>
                <a:srgbClr val="FF0000"/>
              </a:buClr>
              <a:buFont typeface="Wingdings" panose="05000000000000000000" pitchFamily="2" charset="2"/>
              <a:buChar char="Ø"/>
            </a:pPr>
            <a:r>
              <a:rPr lang="en-US" sz="18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a:xfrm>
            <a:off x="10456832" y="6386173"/>
            <a:ext cx="1312025" cy="365125"/>
          </a:xfrm>
        </p:spPr>
        <p:txBody>
          <a:bodyPr/>
          <a:lstStyle/>
          <a:p>
            <a:fld id="{50C91C40-65BD-436B-B794-CF89343271EF}" type="slidenum">
              <a:rPr lang="en-US" sz="2000" smtClean="0"/>
              <a:t>3</a:t>
            </a:fld>
            <a:endParaRPr lang="en-US" sz="2000" dirty="0"/>
          </a:p>
        </p:txBody>
      </p:sp>
      <p:sp>
        <p:nvSpPr>
          <p:cNvPr id="5" name="Footer Placeholder 4"/>
          <p:cNvSpPr>
            <a:spLocks noGrp="1"/>
          </p:cNvSpPr>
          <p:nvPr>
            <p:ph type="ftr" sz="quarter" idx="11"/>
          </p:nvPr>
        </p:nvSpPr>
        <p:spPr>
          <a:xfrm>
            <a:off x="1069431" y="6386173"/>
            <a:ext cx="9136023" cy="356382"/>
          </a:xfrm>
        </p:spPr>
        <p:txBody>
          <a:bodyPr/>
          <a:lstStyle/>
          <a:p>
            <a:pPr algn="l"/>
            <a:r>
              <a:rPr lang="en-US" sz="2000" dirty="0"/>
              <a:t>DEPARTMENT OF COMPUTER SCIENCE AND ENGINEERING</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665" y="37033"/>
            <a:ext cx="3470335" cy="689927"/>
          </a:xfrm>
          <a:prstGeom prst="rect">
            <a:avLst/>
          </a:prstGeom>
        </p:spPr>
      </p:pic>
      <p:pic>
        <p:nvPicPr>
          <p:cNvPr id="15" name="Picture 14"/>
          <p:cNvPicPr>
            <a:picLocks noChangeAspect="1"/>
          </p:cNvPicPr>
          <p:nvPr/>
        </p:nvPicPr>
        <p:blipFill>
          <a:blip r:embed="rId4"/>
          <a:stretch>
            <a:fillRect/>
          </a:stretch>
        </p:blipFill>
        <p:spPr>
          <a:xfrm>
            <a:off x="0" y="5704366"/>
            <a:ext cx="1153634" cy="1153634"/>
          </a:xfrm>
          <a:prstGeom prst="rect">
            <a:avLst/>
          </a:prstGeom>
        </p:spPr>
      </p:pic>
      <p:sp>
        <p:nvSpPr>
          <p:cNvPr id="3" name="TextBox 2"/>
          <p:cNvSpPr txBox="1"/>
          <p:nvPr/>
        </p:nvSpPr>
        <p:spPr>
          <a:xfrm>
            <a:off x="482880" y="478983"/>
            <a:ext cx="10875999" cy="5346144"/>
          </a:xfrm>
          <a:prstGeom prst="rect">
            <a:avLst/>
          </a:prstGeom>
          <a:noFill/>
        </p:spPr>
        <p:txBody>
          <a:bodyPr wrap="square" rtlCol="0">
            <a:spAutoFit/>
          </a:bodyPr>
          <a:lstStyle/>
          <a:p>
            <a:pPr>
              <a:lnSpc>
                <a:spcPct val="150000"/>
              </a:lnSpc>
            </a:pPr>
            <a:r>
              <a:rPr lang="en-US" sz="3000" b="1" dirty="0">
                <a:latin typeface="Times New Roman" panose="02020603050405020304" pitchFamily="18" charset="0"/>
                <a:ea typeface="Calibri" panose="020F0502020204030204" pitchFamily="34" charset="0"/>
                <a:cs typeface="Times New Roman" panose="02020603050405020304" pitchFamily="18" charset="0"/>
              </a:rPr>
              <a:t>Abstract </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Non-Fungible Tokens (NFTs) are unique blockchain-based digital assets that ensure ownership, authenticity, and scarcity. This project develops a decentralized NFT marketplace that allows users to mint, buy, sell, and transfer NFTs without intermediaries. The system utilizes SHA-256 cryptographic hashing to maintain metadata integrity and Elliptic Curve Cryptography (ECC) for secure wallet authentication and transaction signing. Solidity smart contracts deployed on the Ethereum Virtual Machine (EVM) handle NFT minting, ownership management, and transaction validation, while blockchain consensus mechanisms ensure secure verification. Users provide digital asset data through an Ethereum wallet, and the system generates a unique NFT token recorded on the blockchain, enabling transparent and tamper-proof digital asset ownership. The output is a unique NFT token with secure and transparent ownership stored on the blockchain.</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a:xfrm>
            <a:off x="10456832" y="6386173"/>
            <a:ext cx="1312025" cy="365125"/>
          </a:xfrm>
        </p:spPr>
        <p:txBody>
          <a:bodyPr/>
          <a:lstStyle/>
          <a:p>
            <a:fld id="{50C91C40-65BD-436B-B794-CF89343271EF}" type="slidenum">
              <a:rPr lang="en-US" sz="2000" smtClean="0"/>
              <a:t>4</a:t>
            </a:fld>
            <a:endParaRPr lang="en-US" sz="2000" dirty="0"/>
          </a:p>
        </p:txBody>
      </p:sp>
      <p:sp>
        <p:nvSpPr>
          <p:cNvPr id="5" name="Footer Placeholder 4"/>
          <p:cNvSpPr>
            <a:spLocks noGrp="1"/>
          </p:cNvSpPr>
          <p:nvPr>
            <p:ph type="ftr" sz="quarter" idx="11"/>
          </p:nvPr>
        </p:nvSpPr>
        <p:spPr>
          <a:xfrm>
            <a:off x="1069431" y="6386173"/>
            <a:ext cx="9136023" cy="356382"/>
          </a:xfrm>
        </p:spPr>
        <p:txBody>
          <a:bodyPr/>
          <a:lstStyle/>
          <a:p>
            <a:pPr algn="l"/>
            <a:r>
              <a:rPr lang="en-US" sz="2000" dirty="0"/>
              <a:t>DEPARTMENT OF COMPUTER SCIENCE AND ENGINEERING</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665" y="37033"/>
            <a:ext cx="3470335" cy="689927"/>
          </a:xfrm>
          <a:prstGeom prst="rect">
            <a:avLst/>
          </a:prstGeom>
        </p:spPr>
      </p:pic>
      <p:pic>
        <p:nvPicPr>
          <p:cNvPr id="15" name="Picture 14"/>
          <p:cNvPicPr>
            <a:picLocks noChangeAspect="1"/>
          </p:cNvPicPr>
          <p:nvPr/>
        </p:nvPicPr>
        <p:blipFill>
          <a:blip r:embed="rId4"/>
          <a:stretch>
            <a:fillRect/>
          </a:stretch>
        </p:blipFill>
        <p:spPr>
          <a:xfrm>
            <a:off x="0" y="5704366"/>
            <a:ext cx="1153634" cy="1153634"/>
          </a:xfrm>
          <a:prstGeom prst="rect">
            <a:avLst/>
          </a:prstGeom>
        </p:spPr>
      </p:pic>
      <p:sp>
        <p:nvSpPr>
          <p:cNvPr id="3" name="TextBox 2"/>
          <p:cNvSpPr txBox="1"/>
          <p:nvPr/>
        </p:nvSpPr>
        <p:spPr>
          <a:xfrm>
            <a:off x="423143" y="169688"/>
            <a:ext cx="11076335" cy="6581610"/>
          </a:xfrm>
          <a:prstGeom prst="rect">
            <a:avLst/>
          </a:prstGeom>
          <a:noFill/>
        </p:spPr>
        <p:txBody>
          <a:bodyPr wrap="square" rtlCol="0">
            <a:spAutoFit/>
          </a:bodyPr>
          <a:lstStyle/>
          <a:p>
            <a:pPr>
              <a:lnSpc>
                <a:spcPct val="150000"/>
              </a:lnSpc>
              <a:buClr>
                <a:srgbClr val="FF0000"/>
              </a:buClr>
            </a:pPr>
            <a:r>
              <a:rPr lang="en-US" sz="30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Objective</a:t>
            </a:r>
          </a:p>
          <a:p>
            <a:pPr marL="342900" indent="-342900" algn="just">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To design and implement a decentralized NFT marketplace using blockchain technology for secure digital asset management.</a:t>
            </a:r>
          </a:p>
          <a:p>
            <a:pPr marL="342900" indent="-342900" algn="just">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To develop ERC-721 compliant smart contracts in Solidity for NFT minting, ownership verification, and transfer on the Ethereum blockchain.</a:t>
            </a:r>
          </a:p>
          <a:p>
            <a:pPr marL="342900" indent="-342900" algn="just">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To ensure secure authentication and transaction signing using Ethereum wallet integration and Elliptic Curve Cryptography (ECC).</a:t>
            </a:r>
          </a:p>
          <a:p>
            <a:pPr marL="342900" indent="-342900" algn="just">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To maintain data integrity and asset authenticity through cryptographic hashing (SHA-256) and immutable blockchain storage.</a:t>
            </a:r>
          </a:p>
          <a:p>
            <a:pPr marL="342900" indent="-342900" algn="just">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To build a Web3-enabled user interface that supports NFT creation, listing, buying, and trading through decentralized blockchain transactions.</a:t>
            </a:r>
            <a:endParaRPr lang="en-US" sz="30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a:lnSpc>
                <a:spcPct val="150000"/>
              </a:lnSpc>
              <a:buClr>
                <a:srgbClr val="FF0000"/>
              </a:buClr>
            </a:pPr>
            <a:endParaRPr lang="en-US" sz="30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342900" indent="-342900">
              <a:lnSpc>
                <a:spcPct val="150000"/>
              </a:lnSpc>
              <a:buFont typeface="Wingdings" panose="05000000000000000000" pitchFamily="2" charset="2"/>
              <a:buChar char="v"/>
            </a:pPr>
            <a:endParaRPr lang="en-IN" sz="2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a:xfrm>
            <a:off x="10456832" y="6386173"/>
            <a:ext cx="1312025" cy="365125"/>
          </a:xfrm>
        </p:spPr>
        <p:txBody>
          <a:bodyPr/>
          <a:lstStyle/>
          <a:p>
            <a:fld id="{50C91C40-65BD-436B-B794-CF89343271EF}" type="slidenum">
              <a:rPr lang="en-US" sz="2000" smtClean="0"/>
              <a:t>5</a:t>
            </a:fld>
            <a:endParaRPr lang="en-US" sz="2000" dirty="0"/>
          </a:p>
        </p:txBody>
      </p:sp>
      <p:sp>
        <p:nvSpPr>
          <p:cNvPr id="5" name="Footer Placeholder 4"/>
          <p:cNvSpPr>
            <a:spLocks noGrp="1"/>
          </p:cNvSpPr>
          <p:nvPr>
            <p:ph type="ftr" sz="quarter" idx="11"/>
          </p:nvPr>
        </p:nvSpPr>
        <p:spPr>
          <a:xfrm>
            <a:off x="1069431" y="6386173"/>
            <a:ext cx="9136023" cy="356382"/>
          </a:xfrm>
        </p:spPr>
        <p:txBody>
          <a:bodyPr/>
          <a:lstStyle/>
          <a:p>
            <a:pPr algn="l"/>
            <a:r>
              <a:rPr lang="en-US" sz="2000" dirty="0"/>
              <a:t>DEPARTMENT OF COMPUTER SCIENCE AND ENGINEERING</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665" y="37033"/>
            <a:ext cx="3470335" cy="689927"/>
          </a:xfrm>
          <a:prstGeom prst="rect">
            <a:avLst/>
          </a:prstGeom>
        </p:spPr>
      </p:pic>
      <p:pic>
        <p:nvPicPr>
          <p:cNvPr id="15" name="Picture 14"/>
          <p:cNvPicPr>
            <a:picLocks noChangeAspect="1"/>
          </p:cNvPicPr>
          <p:nvPr/>
        </p:nvPicPr>
        <p:blipFill>
          <a:blip r:embed="rId4"/>
          <a:stretch>
            <a:fillRect/>
          </a:stretch>
        </p:blipFill>
        <p:spPr>
          <a:xfrm>
            <a:off x="0" y="5704366"/>
            <a:ext cx="1153634" cy="1153634"/>
          </a:xfrm>
          <a:prstGeom prst="rect">
            <a:avLst/>
          </a:prstGeom>
        </p:spPr>
      </p:pic>
      <p:sp>
        <p:nvSpPr>
          <p:cNvPr id="3" name="TextBox 2"/>
          <p:cNvSpPr txBox="1"/>
          <p:nvPr/>
        </p:nvSpPr>
        <p:spPr>
          <a:xfrm>
            <a:off x="736329" y="1503811"/>
            <a:ext cx="9469125" cy="2899320"/>
          </a:xfrm>
          <a:prstGeom prst="rect">
            <a:avLst/>
          </a:prstGeom>
          <a:noFill/>
        </p:spPr>
        <p:txBody>
          <a:bodyPr wrap="square" rtlCol="0">
            <a:spAutoFit/>
          </a:bodyPr>
          <a:lstStyle/>
          <a:p>
            <a:pPr marR="0" lvl="0" algn="l" rtl="0">
              <a:lnSpc>
                <a:spcPct val="150000"/>
              </a:lnSpc>
              <a:spcBef>
                <a:spcPts val="0"/>
              </a:spcBef>
              <a:spcAft>
                <a:spcPts val="0"/>
              </a:spcAft>
              <a:buClr>
                <a:srgbClr val="FF0000"/>
              </a:buClr>
            </a:pPr>
            <a:r>
              <a:rPr lang="en-US" sz="24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Problem Statement</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Inefficient digital asset marketplace management</a:t>
            </a:r>
          </a:p>
          <a:p>
            <a:pPr marL="342900" indent="-342900">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Lack of automated NFT lifecycle management</a:t>
            </a:r>
          </a:p>
          <a:p>
            <a:pPr marL="342900" indent="-342900">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Poor user interaction with centralized applications</a:t>
            </a:r>
          </a:p>
          <a:p>
            <a:pPr marL="342900" indent="-342900">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Inefficient digital asset metadata management</a:t>
            </a:r>
          </a:p>
          <a:p>
            <a:pPr marL="342900" indent="-342900">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Limited real-time asset transaction monitoring</a:t>
            </a:r>
            <a:endParaRPr lang="en-IN" sz="2000" b="1" dirty="0">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6C50B-789D-DE16-338D-597A784D7352}"/>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0646633D-5EBB-A0CE-9656-C438917C9D82}"/>
              </a:ext>
            </a:extLst>
          </p:cNvPr>
          <p:cNvSpPr>
            <a:spLocks noGrp="1"/>
          </p:cNvSpPr>
          <p:nvPr>
            <p:ph type="sldNum" sz="quarter" idx="12"/>
          </p:nvPr>
        </p:nvSpPr>
        <p:spPr>
          <a:xfrm>
            <a:off x="10456832" y="6386173"/>
            <a:ext cx="1312025" cy="365125"/>
          </a:xfrm>
        </p:spPr>
        <p:txBody>
          <a:bodyPr/>
          <a:lstStyle/>
          <a:p>
            <a:fld id="{50C91C40-65BD-436B-B794-CF89343271EF}" type="slidenum">
              <a:rPr lang="en-US" sz="2000" smtClean="0"/>
              <a:t>6</a:t>
            </a:fld>
            <a:endParaRPr lang="en-US" sz="2000" dirty="0"/>
          </a:p>
        </p:txBody>
      </p:sp>
      <p:sp>
        <p:nvSpPr>
          <p:cNvPr id="5" name="Footer Placeholder 4">
            <a:extLst>
              <a:ext uri="{FF2B5EF4-FFF2-40B4-BE49-F238E27FC236}">
                <a16:creationId xmlns:a16="http://schemas.microsoft.com/office/drawing/2014/main" id="{131AD8EE-90BA-5452-6129-8832E2238D7E}"/>
              </a:ext>
            </a:extLst>
          </p:cNvPr>
          <p:cNvSpPr>
            <a:spLocks noGrp="1"/>
          </p:cNvSpPr>
          <p:nvPr>
            <p:ph type="ftr" sz="quarter" idx="11"/>
          </p:nvPr>
        </p:nvSpPr>
        <p:spPr>
          <a:xfrm>
            <a:off x="1069431" y="6386173"/>
            <a:ext cx="9136023" cy="356382"/>
          </a:xfrm>
        </p:spPr>
        <p:txBody>
          <a:bodyPr/>
          <a:lstStyle/>
          <a:p>
            <a:pPr algn="l"/>
            <a:r>
              <a:rPr lang="en-US" sz="2000" dirty="0"/>
              <a:t>DEPARTMENT OF COMPUTER SCIENCE AND ENGINEERING</a:t>
            </a:r>
          </a:p>
        </p:txBody>
      </p:sp>
      <p:pic>
        <p:nvPicPr>
          <p:cNvPr id="11" name="Picture 10">
            <a:extLst>
              <a:ext uri="{FF2B5EF4-FFF2-40B4-BE49-F238E27FC236}">
                <a16:creationId xmlns:a16="http://schemas.microsoft.com/office/drawing/2014/main" id="{3880EABD-1A44-50AE-E5B6-7CFCF6E071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665" y="37033"/>
            <a:ext cx="3470335" cy="689927"/>
          </a:xfrm>
          <a:prstGeom prst="rect">
            <a:avLst/>
          </a:prstGeom>
        </p:spPr>
      </p:pic>
      <p:pic>
        <p:nvPicPr>
          <p:cNvPr id="15" name="Picture 14">
            <a:extLst>
              <a:ext uri="{FF2B5EF4-FFF2-40B4-BE49-F238E27FC236}">
                <a16:creationId xmlns:a16="http://schemas.microsoft.com/office/drawing/2014/main" id="{040CD5F2-E7C6-5AC9-C432-23D82E8F3119}"/>
              </a:ext>
            </a:extLst>
          </p:cNvPr>
          <p:cNvPicPr>
            <a:picLocks noChangeAspect="1"/>
          </p:cNvPicPr>
          <p:nvPr/>
        </p:nvPicPr>
        <p:blipFill>
          <a:blip r:embed="rId4"/>
          <a:stretch>
            <a:fillRect/>
          </a:stretch>
        </p:blipFill>
        <p:spPr>
          <a:xfrm>
            <a:off x="0" y="5704366"/>
            <a:ext cx="1153634" cy="1153634"/>
          </a:xfrm>
          <a:prstGeom prst="rect">
            <a:avLst/>
          </a:prstGeom>
        </p:spPr>
      </p:pic>
      <p:sp>
        <p:nvSpPr>
          <p:cNvPr id="3" name="TextBox 2">
            <a:extLst>
              <a:ext uri="{FF2B5EF4-FFF2-40B4-BE49-F238E27FC236}">
                <a16:creationId xmlns:a16="http://schemas.microsoft.com/office/drawing/2014/main" id="{3A5972AA-B539-1490-139A-479F79FA747E}"/>
              </a:ext>
            </a:extLst>
          </p:cNvPr>
          <p:cNvSpPr txBox="1"/>
          <p:nvPr/>
        </p:nvSpPr>
        <p:spPr>
          <a:xfrm>
            <a:off x="525829" y="1274331"/>
            <a:ext cx="11140342" cy="2898999"/>
          </a:xfrm>
          <a:prstGeom prst="rect">
            <a:avLst/>
          </a:prstGeom>
          <a:noFill/>
        </p:spPr>
        <p:txBody>
          <a:bodyPr wrap="square" rtlCol="0">
            <a:spAutoFit/>
          </a:bodyPr>
          <a:lstStyle/>
          <a:p>
            <a:pPr>
              <a:lnSpc>
                <a:spcPct val="150000"/>
              </a:lnSpc>
              <a:buClr>
                <a:srgbClr val="FF0000"/>
              </a:buClr>
            </a:pPr>
            <a:r>
              <a:rPr lang="en-US" sz="24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Motivation of the project </a:t>
            </a:r>
          </a:p>
          <a:p>
            <a:pPr marL="342900" indent="-342900">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Rapid growth of digital assets and creator economy</a:t>
            </a:r>
          </a:p>
          <a:p>
            <a:pPr marL="342900" indent="-342900">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Lack of ownership proof in traditional digital systems</a:t>
            </a:r>
          </a:p>
          <a:p>
            <a:pPr marL="342900" indent="-342900">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Need for decentralized and trustless marketplaces</a:t>
            </a:r>
          </a:p>
          <a:p>
            <a:pPr marL="342900" indent="-342900">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Increasing adoption of blockchain and Web3 technologies</a:t>
            </a:r>
          </a:p>
          <a:p>
            <a:pPr marL="342900" indent="-342900">
              <a:lnSpc>
                <a:spcPct val="15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Real-world demand for secure digital asset trading platforms</a:t>
            </a:r>
            <a:endParaRPr lang="en-US" sz="2000" dirty="0"/>
          </a:p>
        </p:txBody>
      </p:sp>
    </p:spTree>
    <p:extLst>
      <p:ext uri="{BB962C8B-B14F-4D97-AF65-F5344CB8AC3E}">
        <p14:creationId xmlns:p14="http://schemas.microsoft.com/office/powerpoint/2010/main" val="2860510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a:xfrm>
            <a:off x="10456832" y="6386173"/>
            <a:ext cx="1312025" cy="365125"/>
          </a:xfrm>
        </p:spPr>
        <p:txBody>
          <a:bodyPr/>
          <a:lstStyle/>
          <a:p>
            <a:fld id="{50C91C40-65BD-436B-B794-CF89343271EF}" type="slidenum">
              <a:rPr lang="en-US" sz="2000" smtClean="0"/>
              <a:t>7</a:t>
            </a:fld>
            <a:endParaRPr lang="en-US" sz="2000" dirty="0"/>
          </a:p>
        </p:txBody>
      </p:sp>
      <p:sp>
        <p:nvSpPr>
          <p:cNvPr id="5" name="Footer Placeholder 4"/>
          <p:cNvSpPr>
            <a:spLocks noGrp="1"/>
          </p:cNvSpPr>
          <p:nvPr>
            <p:ph type="ftr" sz="quarter" idx="11"/>
          </p:nvPr>
        </p:nvSpPr>
        <p:spPr>
          <a:xfrm>
            <a:off x="1069461" y="6332250"/>
            <a:ext cx="9136023" cy="356382"/>
          </a:xfrm>
        </p:spPr>
        <p:txBody>
          <a:bodyPr/>
          <a:lstStyle/>
          <a:p>
            <a:pPr algn="l"/>
            <a:r>
              <a:rPr lang="en-US" sz="2000" dirty="0"/>
              <a:t>DEPARTMENT OF COMPUTER SCIENCE AND ENGINEERING</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665" y="37033"/>
            <a:ext cx="3470335" cy="689927"/>
          </a:xfrm>
          <a:prstGeom prst="rect">
            <a:avLst/>
          </a:prstGeom>
        </p:spPr>
      </p:pic>
      <p:pic>
        <p:nvPicPr>
          <p:cNvPr id="15" name="Picture 14"/>
          <p:cNvPicPr>
            <a:picLocks noChangeAspect="1"/>
          </p:cNvPicPr>
          <p:nvPr/>
        </p:nvPicPr>
        <p:blipFill>
          <a:blip r:embed="rId4"/>
          <a:stretch>
            <a:fillRect/>
          </a:stretch>
        </p:blipFill>
        <p:spPr>
          <a:xfrm>
            <a:off x="0" y="5704366"/>
            <a:ext cx="1153634" cy="1153634"/>
          </a:xfrm>
          <a:prstGeom prst="rect">
            <a:avLst/>
          </a:prstGeom>
        </p:spPr>
      </p:pic>
      <p:sp>
        <p:nvSpPr>
          <p:cNvPr id="3" name="TextBox 2"/>
          <p:cNvSpPr txBox="1"/>
          <p:nvPr/>
        </p:nvSpPr>
        <p:spPr>
          <a:xfrm>
            <a:off x="650938" y="232035"/>
            <a:ext cx="10005707" cy="2308324"/>
          </a:xfrm>
          <a:prstGeom prst="rect">
            <a:avLst/>
          </a:prstGeom>
          <a:noFill/>
        </p:spPr>
        <p:txBody>
          <a:bodyPr wrap="square" rtlCol="0">
            <a:spAutoFit/>
          </a:bodyPr>
          <a:lstStyle/>
          <a:p>
            <a:pPr marR="0" lvl="0" algn="l" rtl="0">
              <a:lnSpc>
                <a:spcPct val="150000"/>
              </a:lnSpc>
              <a:spcBef>
                <a:spcPts val="0"/>
              </a:spcBef>
              <a:spcAft>
                <a:spcPts val="0"/>
              </a:spcAft>
              <a:buClr>
                <a:srgbClr val="FF0000"/>
              </a:buClr>
            </a:pPr>
            <a:r>
              <a:rPr lang="en-US" sz="24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Literature Survey</a:t>
            </a:r>
          </a:p>
          <a:p>
            <a:pPr marR="0" lvl="0" algn="l" rtl="0">
              <a:lnSpc>
                <a:spcPct val="150000"/>
              </a:lnSpc>
              <a:spcBef>
                <a:spcPts val="0"/>
              </a:spcBef>
              <a:spcAft>
                <a:spcPts val="0"/>
              </a:spcAft>
              <a:buClr>
                <a:srgbClr val="FF0000"/>
              </a:buClr>
            </a:pPr>
            <a:endParaRPr lang="en-US" sz="24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R="0" lvl="0" algn="l" rtl="0">
              <a:lnSpc>
                <a:spcPct val="150000"/>
              </a:lnSpc>
              <a:spcBef>
                <a:spcPts val="0"/>
              </a:spcBef>
              <a:spcAft>
                <a:spcPts val="0"/>
              </a:spcAft>
              <a:buClr>
                <a:srgbClr val="FF0000"/>
              </a:buClr>
            </a:pPr>
            <a:endParaRPr lang="en-US" sz="24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R="0" lvl="0" algn="l" rtl="0">
              <a:lnSpc>
                <a:spcPct val="150000"/>
              </a:lnSpc>
              <a:spcBef>
                <a:spcPts val="0"/>
              </a:spcBef>
              <a:spcAft>
                <a:spcPts val="0"/>
              </a:spcAft>
              <a:buClr>
                <a:srgbClr val="FF0000"/>
              </a:buClr>
            </a:pPr>
            <a:endParaRPr lang="en-US" sz="24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graphicFrame>
        <p:nvGraphicFramePr>
          <p:cNvPr id="7" name="Table 6"/>
          <p:cNvGraphicFramePr>
            <a:graphicFrameLocks noGrp="1"/>
          </p:cNvGraphicFramePr>
          <p:nvPr>
            <p:extLst>
              <p:ext uri="{D42A27DB-BD31-4B8C-83A1-F6EECF244321}">
                <p14:modId xmlns:p14="http://schemas.microsoft.com/office/powerpoint/2010/main" val="4268634716"/>
              </p:ext>
            </p:extLst>
          </p:nvPr>
        </p:nvGraphicFramePr>
        <p:xfrm>
          <a:off x="744341" y="889035"/>
          <a:ext cx="11122539" cy="5079929"/>
        </p:xfrm>
        <a:graphic>
          <a:graphicData uri="http://schemas.openxmlformats.org/drawingml/2006/table">
            <a:tbl>
              <a:tblPr firstRow="1" bandRow="1">
                <a:tableStyleId>{21E018F8-684C-4949-AFBB-6D3B47F987D8}</a:tableStyleId>
              </a:tblPr>
              <a:tblGrid>
                <a:gridCol w="788024">
                  <a:extLst>
                    <a:ext uri="{9D8B030D-6E8A-4147-A177-3AD203B41FA5}">
                      <a16:colId xmlns:a16="http://schemas.microsoft.com/office/drawing/2014/main" val="20000"/>
                    </a:ext>
                  </a:extLst>
                </a:gridCol>
                <a:gridCol w="3138952">
                  <a:extLst>
                    <a:ext uri="{9D8B030D-6E8A-4147-A177-3AD203B41FA5}">
                      <a16:colId xmlns:a16="http://schemas.microsoft.com/office/drawing/2014/main" val="20001"/>
                    </a:ext>
                  </a:extLst>
                </a:gridCol>
                <a:gridCol w="2253530">
                  <a:extLst>
                    <a:ext uri="{9D8B030D-6E8A-4147-A177-3AD203B41FA5}">
                      <a16:colId xmlns:a16="http://schemas.microsoft.com/office/drawing/2014/main" val="20002"/>
                    </a:ext>
                  </a:extLst>
                </a:gridCol>
                <a:gridCol w="4942033">
                  <a:extLst>
                    <a:ext uri="{9D8B030D-6E8A-4147-A177-3AD203B41FA5}">
                      <a16:colId xmlns:a16="http://schemas.microsoft.com/office/drawing/2014/main" val="20003"/>
                    </a:ext>
                  </a:extLst>
                </a:gridCol>
              </a:tblGrid>
              <a:tr h="1006042">
                <a:tc>
                  <a:txBody>
                    <a:bodyPr/>
                    <a:lstStyle/>
                    <a:p>
                      <a:pPr marL="0" lvl="0" indent="0" algn="ctr" rtl="0">
                        <a:spcBef>
                          <a:spcPts val="0"/>
                        </a:spcBef>
                        <a:spcAft>
                          <a:spcPts val="0"/>
                        </a:spcAft>
                        <a:buNone/>
                      </a:pPr>
                      <a:r>
                        <a:rPr lang="en-US" sz="2400" b="1" dirty="0">
                          <a:latin typeface="Times New Roman" panose="02020603050405020304" pitchFamily="18" charset="0"/>
                          <a:cs typeface="Times New Roman" panose="02020603050405020304" pitchFamily="18" charset="0"/>
                        </a:rPr>
                        <a:t>S. No.</a:t>
                      </a:r>
                      <a:endParaRPr sz="2400" b="1"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lvl="0" indent="0" algn="ctr" rtl="0">
                        <a:spcBef>
                          <a:spcPts val="0"/>
                        </a:spcBef>
                        <a:spcAft>
                          <a:spcPts val="0"/>
                        </a:spcAft>
                        <a:buNone/>
                      </a:pPr>
                      <a:r>
                        <a:rPr lang="en-US" sz="2400" b="1" dirty="0">
                          <a:latin typeface="Times New Roman" panose="02020603050405020304" pitchFamily="18" charset="0"/>
                          <a:cs typeface="Times New Roman" panose="02020603050405020304" pitchFamily="18" charset="0"/>
                        </a:rPr>
                        <a:t>Paper Title, Author Name,Year &amp; Journal name</a:t>
                      </a:r>
                      <a:endParaRPr sz="2400" b="1"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marR="0" algn="ctr">
                        <a:lnSpc>
                          <a:spcPct val="115000"/>
                        </a:lnSpc>
                        <a:spcBef>
                          <a:spcPts val="0"/>
                        </a:spcBef>
                        <a:spcAft>
                          <a:spcPts val="0"/>
                        </a:spcAft>
                      </a:pPr>
                      <a:r>
                        <a:rPr lang="en-US" sz="2400" b="1" dirty="0">
                          <a:latin typeface="Times New Roman" panose="02020603050405020304" pitchFamily="18" charset="0"/>
                          <a:ea typeface="Calibri" panose="020F0502020204030204"/>
                          <a:cs typeface="Times New Roman" panose="02020603050405020304" pitchFamily="18" charset="0"/>
                        </a:rPr>
                        <a:t>Techniques Used </a:t>
                      </a:r>
                      <a:endParaRPr lang="en-US" sz="2400" dirty="0">
                        <a:latin typeface="Times New Roman" panose="02020603050405020304" pitchFamily="18" charset="0"/>
                        <a:ea typeface="Calibri" panose="020F0502020204030204"/>
                        <a:cs typeface="Times New Roman" panose="02020603050405020304" pitchFamily="18" charset="0"/>
                      </a:endParaRPr>
                    </a:p>
                  </a:txBody>
                  <a:tcPr marL="59087" marR="59087" marT="0" marB="0"/>
                </a:tc>
                <a:tc>
                  <a:txBody>
                    <a:bodyPr/>
                    <a:lstStyle/>
                    <a:p>
                      <a:pPr marL="0" marR="0" algn="ctr">
                        <a:lnSpc>
                          <a:spcPct val="115000"/>
                        </a:lnSpc>
                        <a:spcBef>
                          <a:spcPts val="0"/>
                        </a:spcBef>
                        <a:spcAft>
                          <a:spcPts val="0"/>
                        </a:spcAft>
                      </a:pPr>
                      <a:r>
                        <a:rPr lang="en-US" sz="2400" b="1" dirty="0">
                          <a:latin typeface="Times New Roman" panose="02020603050405020304" pitchFamily="18" charset="0"/>
                          <a:ea typeface="Calibri" panose="020F0502020204030204"/>
                          <a:cs typeface="Times New Roman" panose="02020603050405020304" pitchFamily="18" charset="0"/>
                        </a:rPr>
                        <a:t>Observations</a:t>
                      </a:r>
                      <a:endParaRPr lang="en-US" sz="2400" dirty="0">
                        <a:latin typeface="Times New Roman" panose="02020603050405020304" pitchFamily="18" charset="0"/>
                        <a:ea typeface="Calibri" panose="020F0502020204030204"/>
                        <a:cs typeface="Times New Roman" panose="02020603050405020304" pitchFamily="18" charset="0"/>
                      </a:endParaRPr>
                    </a:p>
                  </a:txBody>
                  <a:tcPr marL="59087" marR="59087" marT="0" marB="0"/>
                </a:tc>
                <a:extLst>
                  <a:ext uri="{0D108BD9-81ED-4DB2-BD59-A6C34878D82A}">
                    <a16:rowId xmlns:a16="http://schemas.microsoft.com/office/drawing/2014/main" val="10000"/>
                  </a:ext>
                </a:extLst>
              </a:tr>
              <a:tr h="777467">
                <a:tc>
                  <a:txBody>
                    <a:bodyPr/>
                    <a:lstStyle/>
                    <a:p>
                      <a:pPr algn="ctr"/>
                      <a:r>
                        <a:rPr lang="en-IN" b="1" dirty="0"/>
                        <a:t>1</a:t>
                      </a:r>
                    </a:p>
                  </a:txBody>
                  <a:tcPr/>
                </a:tc>
                <a:tc>
                  <a:txBody>
                    <a:bodyPr/>
                    <a:lstStyle/>
                    <a:p>
                      <a:pPr>
                        <a:buNone/>
                      </a:pPr>
                      <a:r>
                        <a:rPr lang="en-US" sz="1400" b="1" dirty="0">
                          <a:latin typeface="Times New Roman" panose="02020603050405020304" pitchFamily="18" charset="0"/>
                          <a:cs typeface="Times New Roman" panose="02020603050405020304" pitchFamily="18" charset="0"/>
                        </a:rPr>
                        <a:t>Non-Fungible Tokens: A Survey on Digital Ownership and Blockchain Applications</a:t>
                      </a:r>
                    </a:p>
                    <a:p>
                      <a:pPr>
                        <a:buNone/>
                      </a:pPr>
                      <a:r>
                        <a:rPr lang="en-US" sz="1400" b="1" dirty="0">
                          <a:latin typeface="Times New Roman" panose="02020603050405020304" pitchFamily="18" charset="0"/>
                          <a:cs typeface="Times New Roman" panose="02020603050405020304" pitchFamily="18" charset="0"/>
                        </a:rPr>
                        <a:t>Author :-</a:t>
                      </a:r>
                      <a:r>
                        <a:rPr lang="en-IN" sz="1400" dirty="0">
                          <a:latin typeface="Times New Roman" panose="02020603050405020304" pitchFamily="18" charset="0"/>
                          <a:cs typeface="Times New Roman" panose="02020603050405020304" pitchFamily="18" charset="0"/>
                        </a:rPr>
                        <a:t> W. Wang, D. Hoang et al. </a:t>
                      </a:r>
                    </a:p>
                    <a:p>
                      <a:pPr>
                        <a:buNone/>
                      </a:pPr>
                      <a:r>
                        <a:rPr lang="en-IN" sz="1400" b="1" dirty="0">
                          <a:latin typeface="Times New Roman" panose="02020603050405020304" pitchFamily="18" charset="0"/>
                          <a:cs typeface="Times New Roman" panose="02020603050405020304" pitchFamily="18" charset="0"/>
                        </a:rPr>
                        <a:t>Year</a:t>
                      </a:r>
                      <a:r>
                        <a:rPr lang="en-IN" sz="1400" dirty="0">
                          <a:latin typeface="Times New Roman" panose="02020603050405020304" pitchFamily="18" charset="0"/>
                          <a:cs typeface="Times New Roman" panose="02020603050405020304" pitchFamily="18" charset="0"/>
                        </a:rPr>
                        <a:t> :-2023</a:t>
                      </a:r>
                    </a:p>
                    <a:p>
                      <a:pPr>
                        <a:buNone/>
                      </a:pPr>
                      <a:r>
                        <a:rPr lang="en-IN" sz="1400" b="1" dirty="0">
                          <a:latin typeface="Times New Roman" panose="02020603050405020304" pitchFamily="18" charset="0"/>
                          <a:cs typeface="Times New Roman" panose="02020603050405020304" pitchFamily="18" charset="0"/>
                        </a:rPr>
                        <a:t>Journal name</a:t>
                      </a:r>
                      <a:r>
                        <a:rPr lang="en-IN" sz="1400" dirty="0">
                          <a:latin typeface="Times New Roman" panose="02020603050405020304" pitchFamily="18" charset="0"/>
                          <a:cs typeface="Times New Roman" panose="02020603050405020304" pitchFamily="18" charset="0"/>
                        </a:rPr>
                        <a:t>:- </a:t>
                      </a:r>
                      <a:r>
                        <a:rPr lang="en-IN" sz="1400" i="1" dirty="0">
                          <a:latin typeface="Times New Roman" panose="02020603050405020304" pitchFamily="18" charset="0"/>
                          <a:cs typeface="Times New Roman" panose="02020603050405020304" pitchFamily="18" charset="0"/>
                        </a:rPr>
                        <a:t>IEEE Access</a:t>
                      </a:r>
                      <a:endParaRPr lang="en-US"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200" dirty="0">
                          <a:latin typeface="Times New Roman" panose="02020603050405020304" pitchFamily="18" charset="0"/>
                          <a:cs typeface="Times New Roman" panose="02020603050405020304" pitchFamily="18" charset="0"/>
                        </a:rPr>
                        <a:t>Blockchain architecture, Smart contracts, NFT token standards, cryptographic hashing</a:t>
                      </a:r>
                      <a:endParaRPr lang="en-IN" sz="1200" dirty="0">
                        <a:latin typeface="Times New Roman" panose="02020603050405020304" pitchFamily="18" charset="0"/>
                        <a:cs typeface="Times New Roman" panose="02020603050405020304" pitchFamily="18" charset="0"/>
                      </a:endParaRPr>
                    </a:p>
                  </a:txBody>
                  <a:tcPr anchor="ctr"/>
                </a:tc>
                <a:tc>
                  <a:txBody>
                    <a:bodyPr/>
                    <a:lstStyle/>
                    <a:p>
                      <a:r>
                        <a:rPr lang="en-US" sz="1200" b="1" dirty="0">
                          <a:latin typeface="Times New Roman" panose="02020603050405020304" pitchFamily="18" charset="0"/>
                          <a:cs typeface="Times New Roman" panose="02020603050405020304" pitchFamily="18" charset="0"/>
                        </a:rPr>
                        <a:t>Advantage</a:t>
                      </a:r>
                      <a:r>
                        <a:rPr lang="en-US" sz="1200" dirty="0">
                          <a:latin typeface="Times New Roman" panose="02020603050405020304" pitchFamily="18" charset="0"/>
                          <a:cs typeface="Times New Roman" panose="02020603050405020304" pitchFamily="18" charset="0"/>
                        </a:rPr>
                        <a:t>: Ensures secure digital ownership verification and transparent transactions</a:t>
                      </a:r>
                    </a:p>
                    <a:p>
                      <a:r>
                        <a:rPr lang="en-US" sz="1200" b="1" dirty="0">
                          <a:latin typeface="Times New Roman" panose="02020603050405020304" pitchFamily="18" charset="0"/>
                          <a:cs typeface="Times New Roman" panose="02020603050405020304" pitchFamily="18" charset="0"/>
                        </a:rPr>
                        <a:t>Disadvantage:- </a:t>
                      </a:r>
                      <a:r>
                        <a:rPr lang="en-US" sz="1200" dirty="0">
                          <a:latin typeface="Times New Roman" panose="02020603050405020304" pitchFamily="18" charset="0"/>
                          <a:cs typeface="Times New Roman" panose="02020603050405020304" pitchFamily="18" charset="0"/>
                        </a:rPr>
                        <a:t>Limited scalability in large NFT </a:t>
                      </a:r>
                      <a:r>
                        <a:rPr lang="en-US" sz="1200" dirty="0" err="1">
                          <a:latin typeface="Times New Roman" panose="02020603050405020304" pitchFamily="18" charset="0"/>
                          <a:cs typeface="Times New Roman" panose="02020603050405020304" pitchFamily="18" charset="0"/>
                        </a:rPr>
                        <a:t>marketplacesBlockchain</a:t>
                      </a:r>
                      <a:r>
                        <a:rPr lang="en-US" sz="1200" dirty="0">
                          <a:latin typeface="Times New Roman" panose="02020603050405020304" pitchFamily="18" charset="0"/>
                          <a:cs typeface="Times New Roman" panose="02020603050405020304" pitchFamily="18" charset="0"/>
                        </a:rPr>
                        <a:t>-Based NFT Marketplace </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689235">
                <a:tc>
                  <a:txBody>
                    <a:bodyPr/>
                    <a:lstStyle/>
                    <a:p>
                      <a:pPr algn="ctr"/>
                      <a:r>
                        <a:rPr lang="en-IN" b="1" dirty="0"/>
                        <a:t>2</a:t>
                      </a:r>
                    </a:p>
                  </a:txBody>
                  <a:tcPr/>
                </a:tc>
                <a:tc>
                  <a:txBody>
                    <a:bodyPr/>
                    <a:lstStyle/>
                    <a:p>
                      <a:r>
                        <a:rPr lang="en-US" sz="1200" b="1" dirty="0">
                          <a:latin typeface="Times New Roman" panose="02020603050405020304" pitchFamily="18" charset="0"/>
                          <a:cs typeface="Times New Roman" panose="02020603050405020304" pitchFamily="18" charset="0"/>
                        </a:rPr>
                        <a:t>Blockchain-Based NFT Marketplace Architecture for Secure Digital Asset Trading</a:t>
                      </a:r>
                    </a:p>
                    <a:p>
                      <a:r>
                        <a:rPr lang="en-US" sz="1200" b="1" dirty="0">
                          <a:latin typeface="Times New Roman" panose="02020603050405020304" pitchFamily="18" charset="0"/>
                          <a:cs typeface="Times New Roman" panose="02020603050405020304" pitchFamily="18" charset="0"/>
                        </a:rPr>
                        <a:t>Author :-</a:t>
                      </a:r>
                      <a:r>
                        <a:rPr lang="en-IN" sz="1200" dirty="0">
                          <a:latin typeface="Times New Roman" panose="02020603050405020304" pitchFamily="18" charset="0"/>
                          <a:cs typeface="Times New Roman" panose="02020603050405020304" pitchFamily="18" charset="0"/>
                        </a:rPr>
                        <a:t> </a:t>
                      </a:r>
                      <a:r>
                        <a:rPr lang="de-DE" sz="1200" dirty="0">
                          <a:latin typeface="Times New Roman" panose="02020603050405020304" pitchFamily="18" charset="0"/>
                          <a:cs typeface="Times New Roman" panose="02020603050405020304" pitchFamily="18" charset="0"/>
                        </a:rPr>
                        <a:t>F. Regner, A. Urbach, N. Schweizer </a:t>
                      </a:r>
                    </a:p>
                    <a:p>
                      <a:r>
                        <a:rPr lang="en-IN" sz="1200" b="1" dirty="0">
                          <a:latin typeface="Times New Roman" panose="02020603050405020304" pitchFamily="18" charset="0"/>
                          <a:cs typeface="Times New Roman" panose="02020603050405020304" pitchFamily="18" charset="0"/>
                        </a:rPr>
                        <a:t>Year</a:t>
                      </a:r>
                      <a:r>
                        <a:rPr lang="en-IN" sz="1200" dirty="0">
                          <a:latin typeface="Times New Roman" panose="02020603050405020304" pitchFamily="18" charset="0"/>
                          <a:cs typeface="Times New Roman" panose="02020603050405020304" pitchFamily="18" charset="0"/>
                        </a:rPr>
                        <a:t> :-2023</a:t>
                      </a:r>
                    </a:p>
                    <a:p>
                      <a:r>
                        <a:rPr lang="en-IN" sz="1200" b="1" dirty="0">
                          <a:latin typeface="Times New Roman" panose="02020603050405020304" pitchFamily="18" charset="0"/>
                          <a:cs typeface="Times New Roman" panose="02020603050405020304" pitchFamily="18" charset="0"/>
                        </a:rPr>
                        <a:t>Journal name </a:t>
                      </a:r>
                      <a:r>
                        <a:rPr lang="en-IN" sz="1200" dirty="0">
                          <a:latin typeface="Times New Roman" panose="02020603050405020304" pitchFamily="18" charset="0"/>
                          <a:cs typeface="Times New Roman" panose="02020603050405020304" pitchFamily="18" charset="0"/>
                        </a:rPr>
                        <a:t>:- </a:t>
                      </a:r>
                      <a:r>
                        <a:rPr lang="en-IN" sz="1200" i="1" dirty="0">
                          <a:latin typeface="Times New Roman" panose="02020603050405020304" pitchFamily="18" charset="0"/>
                          <a:cs typeface="Times New Roman" panose="02020603050405020304" pitchFamily="18" charset="0"/>
                        </a:rPr>
                        <a:t>Electronic Markets Journal</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Ethereum blockchain, ERC-721 token standard, decentralized marketplace model</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b="1" dirty="0">
                          <a:latin typeface="Times New Roman" panose="02020603050405020304" pitchFamily="18" charset="0"/>
                          <a:cs typeface="Times New Roman" panose="02020603050405020304" pitchFamily="18" charset="0"/>
                        </a:rPr>
                        <a:t>Advantage</a:t>
                      </a:r>
                      <a:r>
                        <a:rPr lang="en-US" sz="1200" dirty="0">
                          <a:latin typeface="Times New Roman" panose="02020603050405020304" pitchFamily="18" charset="0"/>
                          <a:cs typeface="Times New Roman" panose="02020603050405020304" pitchFamily="18" charset="0"/>
                        </a:rPr>
                        <a:t>: Improves trust and authenticity of digital assets in decentralized trading</a:t>
                      </a:r>
                    </a:p>
                    <a:p>
                      <a:r>
                        <a:rPr lang="en-US" sz="1200" b="1" dirty="0">
                          <a:latin typeface="Times New Roman" panose="02020603050405020304" pitchFamily="18" charset="0"/>
                          <a:cs typeface="Times New Roman" panose="02020603050405020304" pitchFamily="18" charset="0"/>
                        </a:rPr>
                        <a:t>Disadvantage</a:t>
                      </a:r>
                      <a:r>
                        <a:rPr lang="en-US" sz="1200" dirty="0">
                          <a:latin typeface="Times New Roman" panose="02020603050405020304" pitchFamily="18" charset="0"/>
                          <a:cs typeface="Times New Roman" panose="02020603050405020304" pitchFamily="18" charset="0"/>
                        </a:rPr>
                        <a:t>:  High gas fees and network congestion.</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1239479">
                <a:tc>
                  <a:txBody>
                    <a:bodyPr/>
                    <a:lstStyle/>
                    <a:p>
                      <a:pPr algn="ctr"/>
                      <a:r>
                        <a:rPr lang="en-IN" b="1" dirty="0"/>
                        <a:t>3</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en-US" sz="1200" b="1" dirty="0">
                          <a:latin typeface="Times New Roman" panose="02020603050405020304" pitchFamily="18" charset="0"/>
                          <a:cs typeface="Times New Roman" panose="02020603050405020304" pitchFamily="18" charset="0"/>
                        </a:rPr>
                        <a:t>Mapping the NFT Revolution: Market Trends and Transaction Analysis</a:t>
                      </a: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en-IN" sz="1200" b="1" dirty="0">
                          <a:latin typeface="Times New Roman" panose="02020603050405020304" pitchFamily="18" charset="0"/>
                          <a:cs typeface="Times New Roman" panose="02020603050405020304" pitchFamily="18" charset="0"/>
                        </a:rPr>
                        <a:t>Author :- </a:t>
                      </a:r>
                      <a:r>
                        <a:rPr lang="it-IT" sz="1200" dirty="0">
                          <a:latin typeface="Times New Roman" panose="02020603050405020304" pitchFamily="18" charset="0"/>
                          <a:cs typeface="Times New Roman" panose="02020603050405020304" pitchFamily="18" charset="0"/>
                        </a:rPr>
                        <a:t>S. Nadini, L. Alessandretti et al. </a:t>
                      </a:r>
                      <a:endParaRPr lang="en-IN"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en-IN" sz="1200" b="1" dirty="0">
                          <a:latin typeface="Times New Roman" panose="02020603050405020304" pitchFamily="18" charset="0"/>
                          <a:cs typeface="Times New Roman" panose="02020603050405020304" pitchFamily="18" charset="0"/>
                        </a:rPr>
                        <a:t>Year </a:t>
                      </a:r>
                      <a:r>
                        <a:rPr lang="en-IN" sz="1200" dirty="0">
                          <a:latin typeface="Times New Roman" panose="02020603050405020304" pitchFamily="18" charset="0"/>
                          <a:cs typeface="Times New Roman" panose="02020603050405020304" pitchFamily="18" charset="0"/>
                        </a:rPr>
                        <a:t>:- 2024</a:t>
                      </a: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en-IN" sz="1200" b="1" dirty="0">
                          <a:latin typeface="Times New Roman" panose="02020603050405020304" pitchFamily="18" charset="0"/>
                          <a:cs typeface="Times New Roman" panose="02020603050405020304" pitchFamily="18" charset="0"/>
                        </a:rPr>
                        <a:t>Journal name </a:t>
                      </a:r>
                      <a:r>
                        <a:rPr lang="en-IN" sz="1200" dirty="0">
                          <a:latin typeface="Times New Roman" panose="02020603050405020304" pitchFamily="18" charset="0"/>
                          <a:cs typeface="Times New Roman" panose="02020603050405020304" pitchFamily="18" charset="0"/>
                        </a:rPr>
                        <a:t>:-Nature – Scientific Reports</a:t>
                      </a:r>
                      <a:endParaRPr lang="en-US" sz="1200" dirty="0">
                        <a:latin typeface="Times New Roman" panose="02020603050405020304" pitchFamily="18" charset="0"/>
                        <a:cs typeface="Times New Roman" panose="02020603050405020304" pitchFamily="18" charset="0"/>
                      </a:endParaRPr>
                    </a:p>
                  </a:txBody>
                  <a:tcPr anchor="ctr"/>
                </a:tc>
                <a:tc>
                  <a:txBody>
                    <a:bodyPr/>
                    <a:lstStyle/>
                    <a:p>
                      <a:r>
                        <a:rPr lang="en-US" sz="1200" dirty="0">
                          <a:latin typeface="Times New Roman" panose="02020603050405020304" pitchFamily="18" charset="0"/>
                          <a:cs typeface="Times New Roman" panose="02020603050405020304" pitchFamily="18" charset="0"/>
                        </a:rPr>
                        <a:t>Blockchain data analytics, NFT transaction tracking, distributed ledger analysis</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b="1" dirty="0">
                          <a:latin typeface="Times New Roman" panose="02020603050405020304" pitchFamily="18" charset="0"/>
                          <a:cs typeface="Times New Roman" panose="02020603050405020304" pitchFamily="18" charset="0"/>
                        </a:rPr>
                        <a:t>Advantage</a:t>
                      </a:r>
                      <a:r>
                        <a:rPr lang="en-US" sz="1200" dirty="0">
                          <a:latin typeface="Times New Roman" panose="02020603050405020304" pitchFamily="18" charset="0"/>
                          <a:cs typeface="Times New Roman" panose="02020603050405020304" pitchFamily="18" charset="0"/>
                        </a:rPr>
                        <a:t>: Provides transparency and insights into NFT market </a:t>
                      </a:r>
                      <a:r>
                        <a:rPr lang="en-US" sz="1200" dirty="0" err="1">
                          <a:latin typeface="Times New Roman" panose="02020603050405020304" pitchFamily="18" charset="0"/>
                          <a:cs typeface="Times New Roman" panose="02020603050405020304" pitchFamily="18" charset="0"/>
                        </a:rPr>
                        <a:t>behaviour</a:t>
                      </a:r>
                      <a:endParaRPr lang="en-US" sz="1200"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Disadvantage</a:t>
                      </a:r>
                      <a:r>
                        <a:rPr lang="en-US" sz="1200" dirty="0">
                          <a:latin typeface="Times New Roman" panose="02020603050405020304" pitchFamily="18" charset="0"/>
                          <a:cs typeface="Times New Roman" panose="02020603050405020304" pitchFamily="18" charset="0"/>
                        </a:rPr>
                        <a:t>: Does not provide complete marketplace system architecture</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7A523-FD9E-0A22-5EE6-B818E12D0DA5}"/>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DD779285-27CF-4030-400B-D2F40305721C}"/>
              </a:ext>
            </a:extLst>
          </p:cNvPr>
          <p:cNvSpPr>
            <a:spLocks noGrp="1"/>
          </p:cNvSpPr>
          <p:nvPr>
            <p:ph type="sldNum" sz="quarter" idx="12"/>
          </p:nvPr>
        </p:nvSpPr>
        <p:spPr>
          <a:xfrm>
            <a:off x="10456832" y="6386173"/>
            <a:ext cx="1312025" cy="365125"/>
          </a:xfrm>
        </p:spPr>
        <p:txBody>
          <a:bodyPr/>
          <a:lstStyle/>
          <a:p>
            <a:fld id="{50C91C40-65BD-436B-B794-CF89343271EF}" type="slidenum">
              <a:rPr lang="en-US" sz="2000" smtClean="0"/>
              <a:t>8</a:t>
            </a:fld>
            <a:endParaRPr lang="en-US" sz="2000" dirty="0"/>
          </a:p>
        </p:txBody>
      </p:sp>
      <p:sp>
        <p:nvSpPr>
          <p:cNvPr id="5" name="Footer Placeholder 4">
            <a:extLst>
              <a:ext uri="{FF2B5EF4-FFF2-40B4-BE49-F238E27FC236}">
                <a16:creationId xmlns:a16="http://schemas.microsoft.com/office/drawing/2014/main" id="{0CBFD37F-AA79-40AA-96CB-91FE775F8FBD}"/>
              </a:ext>
            </a:extLst>
          </p:cNvPr>
          <p:cNvSpPr>
            <a:spLocks noGrp="1"/>
          </p:cNvSpPr>
          <p:nvPr>
            <p:ph type="ftr" sz="quarter" idx="11"/>
          </p:nvPr>
        </p:nvSpPr>
        <p:spPr>
          <a:xfrm>
            <a:off x="1087460" y="6398577"/>
            <a:ext cx="9136023" cy="356382"/>
          </a:xfrm>
        </p:spPr>
        <p:txBody>
          <a:bodyPr/>
          <a:lstStyle/>
          <a:p>
            <a:pPr algn="l"/>
            <a:r>
              <a:rPr lang="en-US" sz="2000" dirty="0"/>
              <a:t>DEPARTMENT OF COMPUTER SCIENCE AND ENGINEERING</a:t>
            </a:r>
          </a:p>
        </p:txBody>
      </p:sp>
      <p:pic>
        <p:nvPicPr>
          <p:cNvPr id="11" name="Picture 10">
            <a:extLst>
              <a:ext uri="{FF2B5EF4-FFF2-40B4-BE49-F238E27FC236}">
                <a16:creationId xmlns:a16="http://schemas.microsoft.com/office/drawing/2014/main" id="{D666D3F9-0501-EEFB-7945-05C4E9C6D3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665" y="37033"/>
            <a:ext cx="3470335" cy="689927"/>
          </a:xfrm>
          <a:prstGeom prst="rect">
            <a:avLst/>
          </a:prstGeom>
        </p:spPr>
      </p:pic>
      <p:pic>
        <p:nvPicPr>
          <p:cNvPr id="15" name="Picture 14">
            <a:extLst>
              <a:ext uri="{FF2B5EF4-FFF2-40B4-BE49-F238E27FC236}">
                <a16:creationId xmlns:a16="http://schemas.microsoft.com/office/drawing/2014/main" id="{E803473F-CEDD-794D-B005-0F2437DB5E53}"/>
              </a:ext>
            </a:extLst>
          </p:cNvPr>
          <p:cNvPicPr>
            <a:picLocks noChangeAspect="1"/>
          </p:cNvPicPr>
          <p:nvPr/>
        </p:nvPicPr>
        <p:blipFill>
          <a:blip r:embed="rId4"/>
          <a:stretch>
            <a:fillRect/>
          </a:stretch>
        </p:blipFill>
        <p:spPr>
          <a:xfrm>
            <a:off x="0" y="5704366"/>
            <a:ext cx="1153634" cy="1153634"/>
          </a:xfrm>
          <a:prstGeom prst="rect">
            <a:avLst/>
          </a:prstGeom>
        </p:spPr>
      </p:pic>
      <p:sp>
        <p:nvSpPr>
          <p:cNvPr id="3" name="TextBox 2">
            <a:extLst>
              <a:ext uri="{FF2B5EF4-FFF2-40B4-BE49-F238E27FC236}">
                <a16:creationId xmlns:a16="http://schemas.microsoft.com/office/drawing/2014/main" id="{36D9FF71-6D00-8300-887D-C74A74094CCE}"/>
              </a:ext>
            </a:extLst>
          </p:cNvPr>
          <p:cNvSpPr txBox="1"/>
          <p:nvPr/>
        </p:nvSpPr>
        <p:spPr>
          <a:xfrm>
            <a:off x="461014" y="891452"/>
            <a:ext cx="10005707" cy="2308324"/>
          </a:xfrm>
          <a:prstGeom prst="rect">
            <a:avLst/>
          </a:prstGeom>
          <a:noFill/>
        </p:spPr>
        <p:txBody>
          <a:bodyPr wrap="square" rtlCol="0">
            <a:spAutoFit/>
          </a:bodyPr>
          <a:lstStyle/>
          <a:p>
            <a:pPr marR="0" lvl="0" algn="l" rtl="0">
              <a:lnSpc>
                <a:spcPct val="150000"/>
              </a:lnSpc>
              <a:spcBef>
                <a:spcPts val="0"/>
              </a:spcBef>
              <a:spcAft>
                <a:spcPts val="0"/>
              </a:spcAft>
              <a:buClr>
                <a:srgbClr val="FF0000"/>
              </a:buClr>
            </a:pPr>
            <a:r>
              <a:rPr lang="en-US" sz="24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Literature Survey</a:t>
            </a:r>
          </a:p>
          <a:p>
            <a:pPr marR="0" lvl="0" algn="l" rtl="0">
              <a:lnSpc>
                <a:spcPct val="150000"/>
              </a:lnSpc>
              <a:spcBef>
                <a:spcPts val="0"/>
              </a:spcBef>
              <a:spcAft>
                <a:spcPts val="0"/>
              </a:spcAft>
              <a:buClr>
                <a:srgbClr val="FF0000"/>
              </a:buClr>
            </a:pPr>
            <a:endParaRPr lang="en-US" sz="24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R="0" lvl="0" algn="l" rtl="0">
              <a:lnSpc>
                <a:spcPct val="150000"/>
              </a:lnSpc>
              <a:spcBef>
                <a:spcPts val="0"/>
              </a:spcBef>
              <a:spcAft>
                <a:spcPts val="0"/>
              </a:spcAft>
              <a:buClr>
                <a:srgbClr val="FF0000"/>
              </a:buClr>
            </a:pPr>
            <a:endParaRPr lang="en-US" sz="24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R="0" lvl="0" algn="l" rtl="0">
              <a:lnSpc>
                <a:spcPct val="150000"/>
              </a:lnSpc>
              <a:spcBef>
                <a:spcPts val="0"/>
              </a:spcBef>
              <a:spcAft>
                <a:spcPts val="0"/>
              </a:spcAft>
              <a:buClr>
                <a:srgbClr val="FF0000"/>
              </a:buClr>
            </a:pPr>
            <a:endParaRPr lang="en-US" sz="24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graphicFrame>
        <p:nvGraphicFramePr>
          <p:cNvPr id="7" name="Table 6">
            <a:extLst>
              <a:ext uri="{FF2B5EF4-FFF2-40B4-BE49-F238E27FC236}">
                <a16:creationId xmlns:a16="http://schemas.microsoft.com/office/drawing/2014/main" id="{31C2B473-D9D8-1464-6835-C4BAED2F09BB}"/>
              </a:ext>
            </a:extLst>
          </p:cNvPr>
          <p:cNvGraphicFramePr>
            <a:graphicFrameLocks noGrp="1"/>
          </p:cNvGraphicFramePr>
          <p:nvPr>
            <p:extLst>
              <p:ext uri="{D42A27DB-BD31-4B8C-83A1-F6EECF244321}">
                <p14:modId xmlns:p14="http://schemas.microsoft.com/office/powerpoint/2010/main" val="1130668081"/>
              </p:ext>
            </p:extLst>
          </p:nvPr>
        </p:nvGraphicFramePr>
        <p:xfrm>
          <a:off x="1039672" y="2051800"/>
          <a:ext cx="10387428" cy="2377440"/>
        </p:xfrm>
        <a:graphic>
          <a:graphicData uri="http://schemas.openxmlformats.org/drawingml/2006/table">
            <a:tbl>
              <a:tblPr firstRow="1" bandRow="1">
                <a:tableStyleId>{21E018F8-684C-4949-AFBB-6D3B47F987D8}</a:tableStyleId>
              </a:tblPr>
              <a:tblGrid>
                <a:gridCol w="1174496">
                  <a:extLst>
                    <a:ext uri="{9D8B030D-6E8A-4147-A177-3AD203B41FA5}">
                      <a16:colId xmlns:a16="http://schemas.microsoft.com/office/drawing/2014/main" val="20000"/>
                    </a:ext>
                  </a:extLst>
                </a:gridCol>
                <a:gridCol w="4022040">
                  <a:extLst>
                    <a:ext uri="{9D8B030D-6E8A-4147-A177-3AD203B41FA5}">
                      <a16:colId xmlns:a16="http://schemas.microsoft.com/office/drawing/2014/main" val="20001"/>
                    </a:ext>
                  </a:extLst>
                </a:gridCol>
                <a:gridCol w="2895046">
                  <a:extLst>
                    <a:ext uri="{9D8B030D-6E8A-4147-A177-3AD203B41FA5}">
                      <a16:colId xmlns:a16="http://schemas.microsoft.com/office/drawing/2014/main" val="20002"/>
                    </a:ext>
                  </a:extLst>
                </a:gridCol>
                <a:gridCol w="2295846">
                  <a:extLst>
                    <a:ext uri="{9D8B030D-6E8A-4147-A177-3AD203B41FA5}">
                      <a16:colId xmlns:a16="http://schemas.microsoft.com/office/drawing/2014/main" val="20003"/>
                    </a:ext>
                  </a:extLst>
                </a:gridCol>
              </a:tblGrid>
              <a:tr h="785204">
                <a:tc>
                  <a:txBody>
                    <a:bodyPr/>
                    <a:lstStyle/>
                    <a:p>
                      <a:pPr algn="ctr"/>
                      <a:r>
                        <a:rPr lang="en-IN" b="1" dirty="0"/>
                        <a:t>4</a:t>
                      </a:r>
                    </a:p>
                  </a:txBody>
                  <a:tcPr/>
                </a:tc>
                <a:tc>
                  <a:txBody>
                    <a:bodyPr/>
                    <a:lstStyle/>
                    <a:p>
                      <a:r>
                        <a:rPr lang="en-US" sz="1200" b="1" dirty="0">
                          <a:latin typeface="Times New Roman" panose="02020603050405020304" pitchFamily="18" charset="0"/>
                          <a:cs typeface="Times New Roman" panose="02020603050405020304" pitchFamily="18" charset="0"/>
                        </a:rPr>
                        <a:t>Decentralized NFT Storage and Metadata Management Using Smart Contracts</a:t>
                      </a:r>
                    </a:p>
                    <a:p>
                      <a:r>
                        <a:rPr lang="en-US" sz="1200" b="1" dirty="0">
                          <a:latin typeface="Times New Roman" panose="02020603050405020304" pitchFamily="18" charset="0"/>
                          <a:cs typeface="Times New Roman" panose="02020603050405020304" pitchFamily="18" charset="0"/>
                        </a:rPr>
                        <a:t>Author :- </a:t>
                      </a:r>
                      <a:r>
                        <a:rPr lang="en-IN" sz="1200" dirty="0">
                          <a:latin typeface="Times New Roman" panose="02020603050405020304" pitchFamily="18" charset="0"/>
                          <a:cs typeface="Times New Roman" panose="02020603050405020304" pitchFamily="18" charset="0"/>
                        </a:rPr>
                        <a:t> </a:t>
                      </a:r>
                      <a:r>
                        <a:rPr lang="de-DE" sz="1200" dirty="0">
                          <a:latin typeface="Times New Roman" panose="02020603050405020304" pitchFamily="18" charset="0"/>
                          <a:cs typeface="Times New Roman" panose="02020603050405020304" pitchFamily="18" charset="0"/>
                        </a:rPr>
                        <a:t>Y. Chen, H. Zhang, L. Xu </a:t>
                      </a:r>
                      <a:endParaRPr lang="en-IN" sz="1200" dirty="0">
                        <a:latin typeface="Times New Roman" panose="02020603050405020304" pitchFamily="18" charset="0"/>
                        <a:cs typeface="Times New Roman" panose="02020603050405020304" pitchFamily="18" charset="0"/>
                      </a:endParaRPr>
                    </a:p>
                    <a:p>
                      <a:r>
                        <a:rPr lang="en-IN" sz="1200" b="1" dirty="0">
                          <a:latin typeface="Times New Roman" panose="02020603050405020304" pitchFamily="18" charset="0"/>
                          <a:cs typeface="Times New Roman" panose="02020603050405020304" pitchFamily="18" charset="0"/>
                        </a:rPr>
                        <a:t>Year</a:t>
                      </a:r>
                      <a:r>
                        <a:rPr lang="en-IN" sz="120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2024</a:t>
                      </a:r>
                    </a:p>
                    <a:p>
                      <a:r>
                        <a:rPr lang="en-US" sz="1200" b="1" dirty="0">
                          <a:latin typeface="Times New Roman" panose="02020603050405020304" pitchFamily="18" charset="0"/>
                          <a:cs typeface="Times New Roman" panose="02020603050405020304" pitchFamily="18" charset="0"/>
                        </a:rPr>
                        <a:t>Journal name </a:t>
                      </a:r>
                      <a:r>
                        <a:rPr lang="en-US" sz="1200" dirty="0">
                          <a:latin typeface="Times New Roman" panose="02020603050405020304" pitchFamily="18" charset="0"/>
                          <a:cs typeface="Times New Roman" panose="02020603050405020304" pitchFamily="18" charset="0"/>
                        </a:rPr>
                        <a:t>:- </a:t>
                      </a:r>
                      <a:r>
                        <a:rPr lang="en-US" sz="1200" i="1" dirty="0">
                          <a:latin typeface="Times New Roman" panose="02020603050405020304" pitchFamily="18" charset="0"/>
                          <a:cs typeface="Times New Roman" panose="02020603050405020304" pitchFamily="18" charset="0"/>
                        </a:rPr>
                        <a:t>Journal of Blockchain Research and Applications</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Smart contracts, decentralized storage, NFT metadata management</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b="1" dirty="0">
                          <a:latin typeface="Times New Roman" panose="02020603050405020304" pitchFamily="18" charset="0"/>
                          <a:cs typeface="Times New Roman" panose="02020603050405020304" pitchFamily="18" charset="0"/>
                        </a:rPr>
                        <a:t>Advantage</a:t>
                      </a:r>
                      <a:r>
                        <a:rPr lang="en-US" sz="1200" dirty="0">
                          <a:latin typeface="Times New Roman" panose="02020603050405020304" pitchFamily="18" charset="0"/>
                          <a:cs typeface="Times New Roman" panose="02020603050405020304" pitchFamily="18" charset="0"/>
                        </a:rPr>
                        <a:t>: Improves NFT metadata storage efficiency and asset tracking</a:t>
                      </a:r>
                    </a:p>
                    <a:p>
                      <a:r>
                        <a:rPr lang="en-US" sz="1200" b="1" dirty="0">
                          <a:latin typeface="Times New Roman" panose="02020603050405020304" pitchFamily="18" charset="0"/>
                          <a:cs typeface="Times New Roman" panose="02020603050405020304" pitchFamily="18" charset="0"/>
                        </a:rPr>
                        <a:t>Disadvantage :S</a:t>
                      </a:r>
                      <a:r>
                        <a:rPr lang="en-US" sz="1200" dirty="0">
                          <a:latin typeface="Times New Roman" panose="02020603050405020304" pitchFamily="18" charset="0"/>
                          <a:cs typeface="Times New Roman" panose="02020603050405020304" pitchFamily="18" charset="0"/>
                        </a:rPr>
                        <a:t>ecurity vulnerabilities in decentralized storage systems</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r h="679742">
                <a:tc>
                  <a:txBody>
                    <a:bodyPr/>
                    <a:lstStyle/>
                    <a:p>
                      <a:pPr algn="ctr"/>
                      <a:r>
                        <a:rPr lang="en-IN" b="1" dirty="0"/>
                        <a:t>5</a:t>
                      </a:r>
                    </a:p>
                  </a:txBody>
                  <a:tcPr/>
                </a:tc>
                <a:tc>
                  <a:txBody>
                    <a:bodyPr/>
                    <a:lstStyle/>
                    <a:p>
                      <a:r>
                        <a:rPr lang="en-US" sz="1200" b="1" dirty="0">
                          <a:latin typeface="Times New Roman" panose="02020603050405020304" pitchFamily="18" charset="0"/>
                          <a:cs typeface="Times New Roman" panose="02020603050405020304" pitchFamily="18" charset="0"/>
                        </a:rPr>
                        <a:t>Scalable NFT Marketplace Using Hybrid Blockchain Storage Architecture</a:t>
                      </a:r>
                    </a:p>
                    <a:p>
                      <a:r>
                        <a:rPr lang="en-IN" sz="1200" b="1" dirty="0">
                          <a:latin typeface="Times New Roman" panose="02020603050405020304" pitchFamily="18" charset="0"/>
                          <a:cs typeface="Times New Roman" panose="02020603050405020304" pitchFamily="18" charset="0"/>
                        </a:rPr>
                        <a:t>Author </a:t>
                      </a:r>
                      <a:r>
                        <a:rPr lang="en-IN" sz="1200" dirty="0">
                          <a:latin typeface="Times New Roman" panose="02020603050405020304" pitchFamily="18" charset="0"/>
                          <a:cs typeface="Times New Roman" panose="02020603050405020304" pitchFamily="18" charset="0"/>
                        </a:rPr>
                        <a:t>:-  J</a:t>
                      </a:r>
                      <a:r>
                        <a:rPr lang="fi-FI" sz="1200" dirty="0">
                          <a:latin typeface="Times New Roman" panose="02020603050405020304" pitchFamily="18" charset="0"/>
                          <a:cs typeface="Times New Roman" panose="02020603050405020304" pitchFamily="18" charset="0"/>
                        </a:rPr>
                        <a:t>. Lee, M. Park, K. Kim </a:t>
                      </a:r>
                      <a:endParaRPr lang="en-IN" sz="1200" dirty="0">
                        <a:latin typeface="Times New Roman" panose="02020603050405020304" pitchFamily="18" charset="0"/>
                        <a:cs typeface="Times New Roman" panose="02020603050405020304" pitchFamily="18" charset="0"/>
                      </a:endParaRPr>
                    </a:p>
                    <a:p>
                      <a:r>
                        <a:rPr lang="en-IN" sz="1200" b="1" dirty="0">
                          <a:latin typeface="Times New Roman" panose="02020603050405020304" pitchFamily="18" charset="0"/>
                          <a:cs typeface="Times New Roman" panose="02020603050405020304" pitchFamily="18" charset="0"/>
                        </a:rPr>
                        <a:t>Year</a:t>
                      </a:r>
                      <a:r>
                        <a:rPr lang="en-IN" sz="1200" dirty="0">
                          <a:latin typeface="Times New Roman" panose="02020603050405020304" pitchFamily="18" charset="0"/>
                          <a:cs typeface="Times New Roman" panose="02020603050405020304" pitchFamily="18" charset="0"/>
                        </a:rPr>
                        <a:t> :- 2025</a:t>
                      </a:r>
                    </a:p>
                    <a:p>
                      <a:r>
                        <a:rPr lang="en-IN" sz="1200" b="1" dirty="0">
                          <a:latin typeface="Times New Roman" panose="02020603050405020304" pitchFamily="18" charset="0"/>
                          <a:cs typeface="Times New Roman" panose="02020603050405020304" pitchFamily="18" charset="0"/>
                        </a:rPr>
                        <a:t>Journal name </a:t>
                      </a:r>
                      <a:r>
                        <a:rPr lang="en-IN" sz="1200" dirty="0">
                          <a:latin typeface="Times New Roman" panose="02020603050405020304" pitchFamily="18" charset="0"/>
                          <a:cs typeface="Times New Roman" panose="02020603050405020304" pitchFamily="18" charset="0"/>
                        </a:rPr>
                        <a:t>:- </a:t>
                      </a:r>
                      <a:r>
                        <a:rPr lang="en-US" sz="1200" i="1" dirty="0">
                          <a:latin typeface="Times New Roman" panose="02020603050405020304" pitchFamily="18" charset="0"/>
                          <a:cs typeface="Times New Roman" panose="02020603050405020304" pitchFamily="18" charset="0"/>
                        </a:rPr>
                        <a:t>International Journal of Blockchain Applications and Research</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IN" sz="1200" dirty="0">
                          <a:latin typeface="Times New Roman" panose="02020603050405020304" pitchFamily="18" charset="0"/>
                          <a:cs typeface="Times New Roman" panose="02020603050405020304" pitchFamily="18" charset="0"/>
                        </a:rPr>
                        <a:t>Hybrid blockchain storage, decentralized applications (</a:t>
                      </a:r>
                      <a:r>
                        <a:rPr lang="en-IN" sz="1200" dirty="0" err="1">
                          <a:latin typeface="Times New Roman" panose="02020603050405020304" pitchFamily="18" charset="0"/>
                          <a:cs typeface="Times New Roman" panose="02020603050405020304" pitchFamily="18" charset="0"/>
                        </a:rPr>
                        <a:t>DApps</a:t>
                      </a:r>
                      <a:r>
                        <a:rPr lang="en-IN" sz="1200" dirty="0">
                          <a:latin typeface="Times New Roman" panose="02020603050405020304" pitchFamily="18" charset="0"/>
                          <a:cs typeface="Times New Roman" panose="02020603050405020304" pitchFamily="18" charset="0"/>
                        </a:rPr>
                        <a:t>), smart contract automation</a:t>
                      </a:r>
                    </a:p>
                  </a:txBody>
                  <a:tcPr/>
                </a:tc>
                <a:tc>
                  <a:txBody>
                    <a:bodyPr/>
                    <a:lstStyle/>
                    <a:p>
                      <a:r>
                        <a:rPr lang="en-US" sz="1200" b="1" dirty="0">
                          <a:latin typeface="Times New Roman" panose="02020603050405020304" pitchFamily="18" charset="0"/>
                          <a:cs typeface="Times New Roman" panose="02020603050405020304" pitchFamily="18" charset="0"/>
                        </a:rPr>
                        <a:t>Advantage</a:t>
                      </a:r>
                      <a:r>
                        <a:rPr lang="en-US" sz="1200" dirty="0">
                          <a:latin typeface="Times New Roman" panose="02020603050405020304" pitchFamily="18" charset="0"/>
                          <a:cs typeface="Times New Roman" panose="02020603050405020304" pitchFamily="18" charset="0"/>
                        </a:rPr>
                        <a:t>: Enhances scalability using off-chain storage with on-chain ownership verification</a:t>
                      </a:r>
                    </a:p>
                    <a:p>
                      <a:r>
                        <a:rPr lang="en-US" sz="1200" b="1" dirty="0">
                          <a:latin typeface="Times New Roman" panose="02020603050405020304" pitchFamily="18" charset="0"/>
                          <a:cs typeface="Times New Roman" panose="02020603050405020304" pitchFamily="18" charset="0"/>
                        </a:rPr>
                        <a:t>Disadvantage</a:t>
                      </a:r>
                      <a:r>
                        <a:rPr lang="en-US" sz="1200" dirty="0">
                          <a:latin typeface="Times New Roman" panose="02020603050405020304" pitchFamily="18" charset="0"/>
                          <a:cs typeface="Times New Roman" panose="02020603050405020304" pitchFamily="18" charset="0"/>
                        </a:rPr>
                        <a:t>: Requires advanced monitoring and additional security mechanisms</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084905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a:xfrm>
            <a:off x="10456832" y="6386173"/>
            <a:ext cx="1312025" cy="365125"/>
          </a:xfrm>
        </p:spPr>
        <p:txBody>
          <a:bodyPr/>
          <a:lstStyle/>
          <a:p>
            <a:fld id="{50C91C40-65BD-436B-B794-CF89343271EF}" type="slidenum">
              <a:rPr lang="en-US" sz="2000" smtClean="0"/>
              <a:t>9</a:t>
            </a:fld>
            <a:endParaRPr lang="en-US" sz="2000" dirty="0"/>
          </a:p>
        </p:txBody>
      </p:sp>
      <p:sp>
        <p:nvSpPr>
          <p:cNvPr id="5" name="Footer Placeholder 4"/>
          <p:cNvSpPr>
            <a:spLocks noGrp="1"/>
          </p:cNvSpPr>
          <p:nvPr>
            <p:ph type="ftr" sz="quarter" idx="11"/>
          </p:nvPr>
        </p:nvSpPr>
        <p:spPr>
          <a:xfrm>
            <a:off x="1069431" y="6386173"/>
            <a:ext cx="9136023" cy="356382"/>
          </a:xfrm>
        </p:spPr>
        <p:txBody>
          <a:bodyPr/>
          <a:lstStyle/>
          <a:p>
            <a:pPr algn="l"/>
            <a:r>
              <a:rPr lang="en-US" sz="2000" dirty="0"/>
              <a:t>DEPARTMENT OF COMPUTER SCIENCE AND ENGINEERING</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665" y="37033"/>
            <a:ext cx="3470335" cy="689927"/>
          </a:xfrm>
          <a:prstGeom prst="rect">
            <a:avLst/>
          </a:prstGeom>
        </p:spPr>
      </p:pic>
      <p:pic>
        <p:nvPicPr>
          <p:cNvPr id="15" name="Picture 14"/>
          <p:cNvPicPr>
            <a:picLocks noChangeAspect="1"/>
          </p:cNvPicPr>
          <p:nvPr/>
        </p:nvPicPr>
        <p:blipFill>
          <a:blip r:embed="rId4"/>
          <a:stretch>
            <a:fillRect/>
          </a:stretch>
        </p:blipFill>
        <p:spPr>
          <a:xfrm>
            <a:off x="0" y="5704366"/>
            <a:ext cx="1153634" cy="1153634"/>
          </a:xfrm>
          <a:prstGeom prst="rect">
            <a:avLst/>
          </a:prstGeom>
        </p:spPr>
      </p:pic>
      <p:sp>
        <p:nvSpPr>
          <p:cNvPr id="3" name="TextBox 2"/>
          <p:cNvSpPr txBox="1"/>
          <p:nvPr/>
        </p:nvSpPr>
        <p:spPr>
          <a:xfrm>
            <a:off x="423143" y="-32742"/>
            <a:ext cx="9491743" cy="6592639"/>
          </a:xfrm>
          <a:prstGeom prst="rect">
            <a:avLst/>
          </a:prstGeom>
          <a:noFill/>
        </p:spPr>
        <p:txBody>
          <a:bodyPr wrap="square" rtlCol="0">
            <a:spAutoFit/>
          </a:bodyPr>
          <a:lstStyle/>
          <a:p>
            <a:pPr marR="0" lvl="0" algn="l" rtl="0">
              <a:lnSpc>
                <a:spcPct val="150000"/>
              </a:lnSpc>
              <a:spcBef>
                <a:spcPts val="0"/>
              </a:spcBef>
              <a:spcAft>
                <a:spcPts val="0"/>
              </a:spcAft>
              <a:buClr>
                <a:srgbClr val="FF0000"/>
              </a:buClr>
            </a:pPr>
            <a:r>
              <a:rPr lang="en-US" sz="24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Existing System :-</a:t>
            </a:r>
          </a:p>
          <a:p>
            <a:pPr marL="342900" lvl="0" indent="-342900" algn="just">
              <a:lnSpc>
                <a:spcPct val="150000"/>
              </a:lnSpc>
              <a:buClr>
                <a:schemeClr val="tx1"/>
              </a:buClr>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Centralized Platform Governance: </a:t>
            </a:r>
            <a:r>
              <a:rPr lang="en-US" sz="2000" dirty="0">
                <a:latin typeface="Times New Roman" panose="02020603050405020304" pitchFamily="18" charset="0"/>
                <a:cs typeface="Times New Roman" panose="02020603050405020304" pitchFamily="18" charset="0"/>
              </a:rPr>
              <a:t>Digital asset marketplaces operate under centralized administrative control where a single authority manages asset storage, transactions, and user data.</a:t>
            </a:r>
          </a:p>
          <a:p>
            <a:pPr marL="342900" lvl="0" indent="-342900" algn="just">
              <a:lnSpc>
                <a:spcPct val="150000"/>
              </a:lnSpc>
              <a:buClr>
                <a:schemeClr val="tx1"/>
              </a:buClr>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Non-Verifiable Ownership Records: </a:t>
            </a:r>
            <a:r>
              <a:rPr lang="en-US" sz="2000" dirty="0">
                <a:latin typeface="Times New Roman" panose="02020603050405020304" pitchFamily="18" charset="0"/>
                <a:cs typeface="Times New Roman" panose="02020603050405020304" pitchFamily="18" charset="0"/>
              </a:rPr>
              <a:t>Ownership details are stored in private databases without cryptographic verification or publicly auditable mechanisms.</a:t>
            </a:r>
          </a:p>
          <a:p>
            <a:pPr marL="342900" lvl="0" indent="-342900" algn="just">
              <a:lnSpc>
                <a:spcPct val="150000"/>
              </a:lnSpc>
              <a:buClr>
                <a:schemeClr val="tx1"/>
              </a:buClr>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High Operational and Transactional Overhead: </a:t>
            </a:r>
            <a:r>
              <a:rPr lang="en-US" sz="2000" dirty="0">
                <a:latin typeface="Times New Roman" panose="02020603050405020304" pitchFamily="18" charset="0"/>
                <a:cs typeface="Times New Roman" panose="02020603050405020304" pitchFamily="18" charset="0"/>
              </a:rPr>
              <a:t>Centralized systems impose high service fees and commissions due to reliance on intermediary-controlled transaction processing.</a:t>
            </a:r>
          </a:p>
          <a:p>
            <a:pPr marL="342900" lvl="0" indent="-342900" algn="just">
              <a:lnSpc>
                <a:spcPct val="150000"/>
              </a:lnSpc>
              <a:buClr>
                <a:schemeClr val="tx1"/>
              </a:buClr>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Restricted Transactional Transparency: </a:t>
            </a:r>
            <a:r>
              <a:rPr lang="en-US" sz="2000" dirty="0">
                <a:latin typeface="Times New Roman" panose="02020603050405020304" pitchFamily="18" charset="0"/>
                <a:cs typeface="Times New Roman" panose="02020603050405020304" pitchFamily="18" charset="0"/>
              </a:rPr>
              <a:t>Asset transactions and ownership histories are maintained in closed backend systems, limiting independent verification by users.</a:t>
            </a:r>
          </a:p>
          <a:p>
            <a:pPr marL="342900" lvl="0" indent="-342900" algn="just">
              <a:lnSpc>
                <a:spcPct val="150000"/>
              </a:lnSpc>
              <a:buClr>
                <a:schemeClr val="tx1"/>
              </a:buClr>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Susceptibility to Data Manipulation and Service Failure: </a:t>
            </a:r>
            <a:r>
              <a:rPr lang="en-US" sz="2000" dirty="0">
                <a:latin typeface="Times New Roman" panose="02020603050405020304" pitchFamily="18" charset="0"/>
                <a:cs typeface="Times New Roman" panose="02020603050405020304" pitchFamily="18" charset="0"/>
              </a:rPr>
              <a:t>Centralized infrastructures are prone to data alteration, security breaches, system failures, and administrative censorship.</a:t>
            </a:r>
            <a:endParaRPr lang="en-US" sz="2400"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E14F7-F242-B2C2-5705-B216FF99FF2F}"/>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0FC0DE0F-7410-AF72-B50C-0FB855653434}"/>
              </a:ext>
            </a:extLst>
          </p:cNvPr>
          <p:cNvSpPr>
            <a:spLocks noGrp="1"/>
          </p:cNvSpPr>
          <p:nvPr>
            <p:ph type="sldNum" sz="quarter" idx="12"/>
          </p:nvPr>
        </p:nvSpPr>
        <p:spPr>
          <a:xfrm>
            <a:off x="10456832" y="6386173"/>
            <a:ext cx="1312025" cy="365125"/>
          </a:xfrm>
        </p:spPr>
        <p:txBody>
          <a:bodyPr/>
          <a:lstStyle/>
          <a:p>
            <a:fld id="{50C91C40-65BD-436B-B794-CF89343271EF}" type="slidenum">
              <a:rPr lang="en-US" sz="2000" smtClean="0"/>
              <a:t>10</a:t>
            </a:fld>
            <a:endParaRPr lang="en-US" sz="2000" dirty="0"/>
          </a:p>
        </p:txBody>
      </p:sp>
      <p:sp>
        <p:nvSpPr>
          <p:cNvPr id="5" name="Footer Placeholder 4">
            <a:extLst>
              <a:ext uri="{FF2B5EF4-FFF2-40B4-BE49-F238E27FC236}">
                <a16:creationId xmlns:a16="http://schemas.microsoft.com/office/drawing/2014/main" id="{E259409D-6157-45EC-829C-566AE03A2C32}"/>
              </a:ext>
            </a:extLst>
          </p:cNvPr>
          <p:cNvSpPr>
            <a:spLocks noGrp="1"/>
          </p:cNvSpPr>
          <p:nvPr>
            <p:ph type="ftr" sz="quarter" idx="11"/>
          </p:nvPr>
        </p:nvSpPr>
        <p:spPr>
          <a:xfrm>
            <a:off x="1069431" y="6386173"/>
            <a:ext cx="9136023" cy="356382"/>
          </a:xfrm>
        </p:spPr>
        <p:txBody>
          <a:bodyPr/>
          <a:lstStyle/>
          <a:p>
            <a:pPr algn="l"/>
            <a:r>
              <a:rPr lang="en-US" sz="2000" dirty="0"/>
              <a:t>DEPARTMENT OF COMPUTER SCIENCE AND ENGINEERING</a:t>
            </a:r>
          </a:p>
        </p:txBody>
      </p:sp>
      <p:pic>
        <p:nvPicPr>
          <p:cNvPr id="11" name="Picture 10">
            <a:extLst>
              <a:ext uri="{FF2B5EF4-FFF2-40B4-BE49-F238E27FC236}">
                <a16:creationId xmlns:a16="http://schemas.microsoft.com/office/drawing/2014/main" id="{BC372FB9-BADF-3B71-4EDE-D3A7D14E10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665" y="37033"/>
            <a:ext cx="3470335" cy="689927"/>
          </a:xfrm>
          <a:prstGeom prst="rect">
            <a:avLst/>
          </a:prstGeom>
        </p:spPr>
      </p:pic>
      <p:pic>
        <p:nvPicPr>
          <p:cNvPr id="15" name="Picture 14">
            <a:extLst>
              <a:ext uri="{FF2B5EF4-FFF2-40B4-BE49-F238E27FC236}">
                <a16:creationId xmlns:a16="http://schemas.microsoft.com/office/drawing/2014/main" id="{18056E82-B8DD-94A0-A185-7FF38F2B9B2A}"/>
              </a:ext>
            </a:extLst>
          </p:cNvPr>
          <p:cNvPicPr>
            <a:picLocks noChangeAspect="1"/>
          </p:cNvPicPr>
          <p:nvPr/>
        </p:nvPicPr>
        <p:blipFill>
          <a:blip r:embed="rId4"/>
          <a:stretch>
            <a:fillRect/>
          </a:stretch>
        </p:blipFill>
        <p:spPr>
          <a:xfrm>
            <a:off x="0" y="5704366"/>
            <a:ext cx="1153634" cy="1153634"/>
          </a:xfrm>
          <a:prstGeom prst="rect">
            <a:avLst/>
          </a:prstGeom>
        </p:spPr>
      </p:pic>
      <p:sp>
        <p:nvSpPr>
          <p:cNvPr id="3" name="TextBox 2">
            <a:extLst>
              <a:ext uri="{FF2B5EF4-FFF2-40B4-BE49-F238E27FC236}">
                <a16:creationId xmlns:a16="http://schemas.microsoft.com/office/drawing/2014/main" id="{61CC54D7-6F5D-5B37-6BF4-6CDE4EF6DC2F}"/>
              </a:ext>
            </a:extLst>
          </p:cNvPr>
          <p:cNvSpPr txBox="1"/>
          <p:nvPr/>
        </p:nvSpPr>
        <p:spPr>
          <a:xfrm>
            <a:off x="435962" y="381997"/>
            <a:ext cx="11030614" cy="6130974"/>
          </a:xfrm>
          <a:prstGeom prst="rect">
            <a:avLst/>
          </a:prstGeom>
          <a:noFill/>
        </p:spPr>
        <p:txBody>
          <a:bodyPr wrap="square" rtlCol="0">
            <a:spAutoFit/>
          </a:bodyPr>
          <a:lstStyle/>
          <a:p>
            <a:pPr lvl="0">
              <a:lnSpc>
                <a:spcPct val="150000"/>
              </a:lnSpc>
              <a:buClr>
                <a:srgbClr val="FF0000"/>
              </a:buClr>
            </a:pPr>
            <a:r>
              <a:rPr lang="en-IN" sz="2400" b="1" dirty="0">
                <a:latin typeface="Times New Roman" panose="02020603050405020304" pitchFamily="18" charset="0"/>
                <a:cs typeface="Times New Roman" panose="02020603050405020304" pitchFamily="18" charset="0"/>
              </a:rPr>
              <a:t>Drawbacks of Existing System</a:t>
            </a:r>
            <a:endParaRPr lang="en-US" sz="2000" b="1" dirty="0">
              <a:latin typeface="Times New Roman" panose="02020603050405020304" pitchFamily="18" charset="0"/>
              <a:cs typeface="Times New Roman" panose="02020603050405020304" pitchFamily="18" charset="0"/>
            </a:endParaRPr>
          </a:p>
          <a:p>
            <a:pPr marL="342900" lvl="0" indent="-342900" algn="just">
              <a:lnSpc>
                <a:spcPct val="150000"/>
              </a:lnSpc>
              <a:buClr>
                <a:schemeClr val="tx1"/>
              </a:buClr>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Centralized Control: </a:t>
            </a:r>
            <a:r>
              <a:rPr lang="en-US" sz="2000" dirty="0">
                <a:latin typeface="Times New Roman" panose="02020603050405020304" pitchFamily="18" charset="0"/>
                <a:cs typeface="Times New Roman" panose="02020603050405020304" pitchFamily="18" charset="0"/>
              </a:rPr>
              <a:t>Existing digital marketplaces are controlled by a single authority, leading to lack of decentralization and increased dependency on intermediaries.</a:t>
            </a:r>
          </a:p>
          <a:p>
            <a:pPr marL="342900" lvl="0" indent="-342900" algn="just">
              <a:lnSpc>
                <a:spcPct val="150000"/>
              </a:lnSpc>
              <a:buClr>
                <a:schemeClr val="tx1"/>
              </a:buClr>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Lack of Transparency: </a:t>
            </a:r>
            <a:r>
              <a:rPr lang="en-US" sz="2000" dirty="0">
                <a:latin typeface="Times New Roman" panose="02020603050405020304" pitchFamily="18" charset="0"/>
                <a:cs typeface="Times New Roman" panose="02020603050405020304" pitchFamily="18" charset="0"/>
              </a:rPr>
              <a:t>Ownership records and transaction details are stored in private databases, making it difficult for users to verify authenticity.</a:t>
            </a:r>
          </a:p>
          <a:p>
            <a:pPr marL="342900" lvl="0" indent="-342900" algn="just">
              <a:lnSpc>
                <a:spcPct val="150000"/>
              </a:lnSpc>
              <a:buClr>
                <a:schemeClr val="tx1"/>
              </a:buClr>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Risk of Fraud and Duplication: </a:t>
            </a:r>
            <a:r>
              <a:rPr lang="en-US" sz="2000" dirty="0">
                <a:latin typeface="Times New Roman" panose="02020603050405020304" pitchFamily="18" charset="0"/>
                <a:cs typeface="Times New Roman" panose="02020603050405020304" pitchFamily="18" charset="0"/>
              </a:rPr>
              <a:t>Digital assets can be copied or manipulated easily, resulting in fake ownership claims.</a:t>
            </a:r>
          </a:p>
          <a:p>
            <a:pPr marL="342900" lvl="0" indent="-342900" algn="just">
              <a:lnSpc>
                <a:spcPct val="150000"/>
              </a:lnSpc>
              <a:buClr>
                <a:schemeClr val="tx1"/>
              </a:buClr>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High Transaction Fees: </a:t>
            </a:r>
            <a:r>
              <a:rPr lang="en-US" sz="2000" dirty="0">
                <a:latin typeface="Times New Roman" panose="02020603050405020304" pitchFamily="18" charset="0"/>
                <a:cs typeface="Times New Roman" panose="02020603050405020304" pitchFamily="18" charset="0"/>
              </a:rPr>
              <a:t>Centralized platforms charge high commission and service fees for buying and selling digital assets.</a:t>
            </a:r>
          </a:p>
          <a:p>
            <a:pPr marL="342900" lvl="0" indent="-342900" algn="just">
              <a:lnSpc>
                <a:spcPct val="150000"/>
              </a:lnSpc>
              <a:buClr>
                <a:schemeClr val="tx1"/>
              </a:buClr>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Limited Ownership Rights: </a:t>
            </a:r>
            <a:r>
              <a:rPr lang="en-US" sz="2000" dirty="0">
                <a:latin typeface="Times New Roman" panose="02020603050405020304" pitchFamily="18" charset="0"/>
                <a:cs typeface="Times New Roman" panose="02020603050405020304" pitchFamily="18" charset="0"/>
              </a:rPr>
              <a:t>Users do not have complete control over their assets, as platforms can restrict access or remove content.</a:t>
            </a:r>
          </a:p>
          <a:p>
            <a:pPr marL="342900" lvl="0" indent="-342900" algn="just">
              <a:lnSpc>
                <a:spcPct val="150000"/>
              </a:lnSpc>
              <a:buClr>
                <a:schemeClr val="tx1"/>
              </a:buClr>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Data Manipulation Risk: </a:t>
            </a:r>
            <a:r>
              <a:rPr lang="en-US" sz="2000" dirty="0">
                <a:latin typeface="Times New Roman" panose="02020603050405020304" pitchFamily="18" charset="0"/>
                <a:cs typeface="Times New Roman" panose="02020603050405020304" pitchFamily="18" charset="0"/>
              </a:rPr>
              <a:t>Centralized storage systems are vulnerable to hacking, data loss, or unauthorized modification.</a:t>
            </a:r>
          </a:p>
        </p:txBody>
      </p:sp>
    </p:spTree>
    <p:extLst>
      <p:ext uri="{BB962C8B-B14F-4D97-AF65-F5344CB8AC3E}">
        <p14:creationId xmlns:p14="http://schemas.microsoft.com/office/powerpoint/2010/main" val="2508533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a:xfrm>
            <a:off x="10456832" y="6386173"/>
            <a:ext cx="1312025" cy="365125"/>
          </a:xfrm>
        </p:spPr>
        <p:txBody>
          <a:bodyPr/>
          <a:lstStyle/>
          <a:p>
            <a:fld id="{50C91C40-65BD-436B-B794-CF89343271EF}" type="slidenum">
              <a:rPr lang="en-US" sz="2000" smtClean="0"/>
              <a:t>11</a:t>
            </a:fld>
            <a:endParaRPr lang="en-US" sz="2000" dirty="0"/>
          </a:p>
        </p:txBody>
      </p:sp>
      <p:sp>
        <p:nvSpPr>
          <p:cNvPr id="5" name="Footer Placeholder 4"/>
          <p:cNvSpPr>
            <a:spLocks noGrp="1"/>
          </p:cNvSpPr>
          <p:nvPr>
            <p:ph type="ftr" sz="quarter" idx="11"/>
          </p:nvPr>
        </p:nvSpPr>
        <p:spPr>
          <a:xfrm>
            <a:off x="1069431" y="6386173"/>
            <a:ext cx="9136023" cy="356382"/>
          </a:xfrm>
        </p:spPr>
        <p:txBody>
          <a:bodyPr/>
          <a:lstStyle/>
          <a:p>
            <a:pPr algn="l"/>
            <a:r>
              <a:rPr lang="en-US" sz="2000" dirty="0"/>
              <a:t>DEPARTMENT OF COMPUTER SCIENCE AND ENGINEERING</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665" y="37033"/>
            <a:ext cx="3470335" cy="689927"/>
          </a:xfrm>
          <a:prstGeom prst="rect">
            <a:avLst/>
          </a:prstGeom>
        </p:spPr>
      </p:pic>
      <p:pic>
        <p:nvPicPr>
          <p:cNvPr id="15" name="Picture 14"/>
          <p:cNvPicPr>
            <a:picLocks noChangeAspect="1"/>
          </p:cNvPicPr>
          <p:nvPr/>
        </p:nvPicPr>
        <p:blipFill>
          <a:blip r:embed="rId4"/>
          <a:stretch>
            <a:fillRect/>
          </a:stretch>
        </p:blipFill>
        <p:spPr>
          <a:xfrm>
            <a:off x="0" y="5704366"/>
            <a:ext cx="1153634" cy="1153634"/>
          </a:xfrm>
          <a:prstGeom prst="rect">
            <a:avLst/>
          </a:prstGeom>
        </p:spPr>
      </p:pic>
      <p:sp>
        <p:nvSpPr>
          <p:cNvPr id="3" name="TextBox 2"/>
          <p:cNvSpPr txBox="1"/>
          <p:nvPr/>
        </p:nvSpPr>
        <p:spPr>
          <a:xfrm>
            <a:off x="180459" y="831608"/>
            <a:ext cx="11588398" cy="5022978"/>
          </a:xfrm>
          <a:prstGeom prst="rect">
            <a:avLst/>
          </a:prstGeom>
          <a:noFill/>
        </p:spPr>
        <p:txBody>
          <a:bodyPr wrap="square" rtlCol="0">
            <a:spAutoFit/>
          </a:bodyPr>
          <a:lstStyle/>
          <a:p>
            <a:pPr marR="0" lvl="0" algn="l" rtl="0">
              <a:spcBef>
                <a:spcPts val="0"/>
              </a:spcBef>
              <a:spcAft>
                <a:spcPts val="0"/>
              </a:spcAft>
              <a:buClr>
                <a:srgbClr val="FF0000"/>
              </a:buClr>
            </a:pPr>
            <a:r>
              <a:rPr lang="en-US" sz="24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Proposed System :-</a:t>
            </a:r>
            <a:endParaRPr lang="en-US" sz="24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Immutable Ownership Records: </a:t>
            </a:r>
            <a:r>
              <a:rPr lang="en-US" sz="2000" dirty="0">
                <a:latin typeface="Times New Roman" panose="02020603050405020304" pitchFamily="18" charset="0"/>
                <a:cs typeface="Times New Roman" panose="02020603050405020304" pitchFamily="18" charset="0"/>
              </a:rPr>
              <a:t>Leverages distributed ledger technology to maintain immutable, tamper-resistant, and cryptographically verifiable NFT ownership states.</a:t>
            </a:r>
          </a:p>
          <a:p>
            <a:pPr marL="342900" indent="-342900" algn="just">
              <a:lnSpc>
                <a:spcPct val="150000"/>
              </a:lnSpc>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Smart Contract-Based Transactions: </a:t>
            </a:r>
            <a:r>
              <a:rPr lang="en-US" sz="2000" dirty="0">
                <a:latin typeface="Times New Roman" panose="02020603050405020304" pitchFamily="18" charset="0"/>
                <a:cs typeface="Times New Roman" panose="02020603050405020304" pitchFamily="18" charset="0"/>
              </a:rPr>
              <a:t>Utilizes Solidity smart contracts deployed on the Ethereum Virtual Machine (EVM) to autonomously execute NFT minting, ownership validation, and asset transfer operations.</a:t>
            </a:r>
          </a:p>
          <a:p>
            <a:pPr marL="342900" indent="-342900" algn="just">
              <a:lnSpc>
                <a:spcPct val="150000"/>
              </a:lnSpc>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Peer-to-Peer NFT Transfers: </a:t>
            </a:r>
            <a:r>
              <a:rPr lang="en-US" sz="2000" dirty="0">
                <a:latin typeface="Times New Roman" panose="02020603050405020304" pitchFamily="18" charset="0"/>
                <a:cs typeface="Times New Roman" panose="02020603050405020304" pitchFamily="18" charset="0"/>
              </a:rPr>
              <a:t>Facilitates decentralized peer-to-peer asset exchange through blockchain-validated transactions without intermediary intervention.</a:t>
            </a:r>
          </a:p>
          <a:p>
            <a:pPr marL="342900" indent="-342900" algn="just">
              <a:lnSpc>
                <a:spcPct val="150000"/>
              </a:lnSpc>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Off-Chain Metadata Storage: </a:t>
            </a:r>
            <a:r>
              <a:rPr lang="en-US" sz="2000" dirty="0">
                <a:latin typeface="Times New Roman" panose="02020603050405020304" pitchFamily="18" charset="0"/>
                <a:cs typeface="Times New Roman" panose="02020603050405020304" pitchFamily="18" charset="0"/>
              </a:rPr>
              <a:t>Implements hybrid storage architecture by maintaining NFT metadata in MongoDB to reduce on-chain storage overhead and optimize gas efficiency.</a:t>
            </a:r>
          </a:p>
          <a:p>
            <a:pPr marL="342900" indent="-342900" algn="just">
              <a:lnSpc>
                <a:spcPct val="150000"/>
              </a:lnSpc>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Secure Wallet-Based Authentication: </a:t>
            </a:r>
            <a:r>
              <a:rPr lang="en-US" sz="2000" dirty="0">
                <a:latin typeface="Times New Roman" panose="02020603050405020304" pitchFamily="18" charset="0"/>
                <a:cs typeface="Times New Roman" panose="02020603050405020304" pitchFamily="18" charset="0"/>
              </a:rPr>
              <a:t>Employs cryptographic wallet authentication and digital signature verification to ensure secure user identity validation and transaction authorization.</a:t>
            </a:r>
            <a:endParaRPr lang="en-US" sz="2400"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29A57-A9CF-FE1B-5D4B-8701F9C257DD}"/>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911207EF-A45C-1D29-97B8-94BFF04E61AC}"/>
              </a:ext>
            </a:extLst>
          </p:cNvPr>
          <p:cNvSpPr>
            <a:spLocks noGrp="1"/>
          </p:cNvSpPr>
          <p:nvPr>
            <p:ph type="sldNum" sz="quarter" idx="12"/>
          </p:nvPr>
        </p:nvSpPr>
        <p:spPr>
          <a:xfrm>
            <a:off x="10456832" y="6386173"/>
            <a:ext cx="1312025" cy="365125"/>
          </a:xfrm>
        </p:spPr>
        <p:txBody>
          <a:bodyPr/>
          <a:lstStyle/>
          <a:p>
            <a:fld id="{50C91C40-65BD-436B-B794-CF89343271EF}" type="slidenum">
              <a:rPr lang="en-US" sz="2000" smtClean="0"/>
              <a:t>12</a:t>
            </a:fld>
            <a:endParaRPr lang="en-US" sz="2000" dirty="0"/>
          </a:p>
        </p:txBody>
      </p:sp>
      <p:sp>
        <p:nvSpPr>
          <p:cNvPr id="5" name="Footer Placeholder 4">
            <a:extLst>
              <a:ext uri="{FF2B5EF4-FFF2-40B4-BE49-F238E27FC236}">
                <a16:creationId xmlns:a16="http://schemas.microsoft.com/office/drawing/2014/main" id="{83A46AA1-F95C-A5EA-D6F0-EB14D85D5E94}"/>
              </a:ext>
            </a:extLst>
          </p:cNvPr>
          <p:cNvSpPr>
            <a:spLocks noGrp="1"/>
          </p:cNvSpPr>
          <p:nvPr>
            <p:ph type="ftr" sz="quarter" idx="11"/>
          </p:nvPr>
        </p:nvSpPr>
        <p:spPr>
          <a:xfrm>
            <a:off x="1005423" y="6421444"/>
            <a:ext cx="9136023" cy="356382"/>
          </a:xfrm>
        </p:spPr>
        <p:txBody>
          <a:bodyPr/>
          <a:lstStyle/>
          <a:p>
            <a:pPr algn="l"/>
            <a:r>
              <a:rPr lang="en-US" sz="2000" dirty="0"/>
              <a:t>DEPARTMENT OF COMPUTER SCIENCE AND ENGINEERING</a:t>
            </a:r>
          </a:p>
        </p:txBody>
      </p:sp>
      <p:pic>
        <p:nvPicPr>
          <p:cNvPr id="11" name="Picture 10">
            <a:extLst>
              <a:ext uri="{FF2B5EF4-FFF2-40B4-BE49-F238E27FC236}">
                <a16:creationId xmlns:a16="http://schemas.microsoft.com/office/drawing/2014/main" id="{9B030019-EEDD-3B91-D342-1036431B95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665" y="37033"/>
            <a:ext cx="3470335" cy="689927"/>
          </a:xfrm>
          <a:prstGeom prst="rect">
            <a:avLst/>
          </a:prstGeom>
        </p:spPr>
      </p:pic>
      <p:pic>
        <p:nvPicPr>
          <p:cNvPr id="15" name="Picture 14">
            <a:extLst>
              <a:ext uri="{FF2B5EF4-FFF2-40B4-BE49-F238E27FC236}">
                <a16:creationId xmlns:a16="http://schemas.microsoft.com/office/drawing/2014/main" id="{55081B96-7666-C137-A099-B0D54DD96B29}"/>
              </a:ext>
            </a:extLst>
          </p:cNvPr>
          <p:cNvPicPr>
            <a:picLocks noChangeAspect="1"/>
          </p:cNvPicPr>
          <p:nvPr/>
        </p:nvPicPr>
        <p:blipFill>
          <a:blip r:embed="rId4"/>
          <a:stretch>
            <a:fillRect/>
          </a:stretch>
        </p:blipFill>
        <p:spPr>
          <a:xfrm>
            <a:off x="0" y="5704366"/>
            <a:ext cx="1153634" cy="1153634"/>
          </a:xfrm>
          <a:prstGeom prst="rect">
            <a:avLst/>
          </a:prstGeom>
        </p:spPr>
      </p:pic>
      <p:sp>
        <p:nvSpPr>
          <p:cNvPr id="3" name="TextBox 2">
            <a:extLst>
              <a:ext uri="{FF2B5EF4-FFF2-40B4-BE49-F238E27FC236}">
                <a16:creationId xmlns:a16="http://schemas.microsoft.com/office/drawing/2014/main" id="{E25CD798-E4C2-C633-6A31-D834436ECD78}"/>
              </a:ext>
            </a:extLst>
          </p:cNvPr>
          <p:cNvSpPr txBox="1"/>
          <p:nvPr/>
        </p:nvSpPr>
        <p:spPr>
          <a:xfrm>
            <a:off x="393241" y="595896"/>
            <a:ext cx="11588398" cy="4827284"/>
          </a:xfrm>
          <a:prstGeom prst="rect">
            <a:avLst/>
          </a:prstGeom>
          <a:noFill/>
        </p:spPr>
        <p:txBody>
          <a:bodyPr wrap="square" rtlCol="0">
            <a:spAutoFit/>
          </a:bodyPr>
          <a:lstStyle/>
          <a:p>
            <a:pPr marR="0" lvl="0" algn="l" rtl="0">
              <a:spcBef>
                <a:spcPts val="0"/>
              </a:spcBef>
              <a:spcAft>
                <a:spcPts val="0"/>
              </a:spcAft>
              <a:buClr>
                <a:srgbClr val="FF0000"/>
              </a:buClr>
            </a:pPr>
            <a:r>
              <a:rPr lang="en-US" sz="24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Algorithms/Methodology of the Proposed Work:-</a:t>
            </a:r>
          </a:p>
          <a:p>
            <a:pPr marL="342900" lvl="0" indent="-342900" algn="just">
              <a:lnSpc>
                <a:spcPct val="150000"/>
              </a:lnSpc>
              <a:buClr>
                <a:schemeClr val="tx1"/>
              </a:buCl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Implements a decentralized NFT marketplace using blockchain technology.</a:t>
            </a:r>
          </a:p>
          <a:p>
            <a:pPr marL="342900" lvl="0" indent="-342900" algn="just">
              <a:lnSpc>
                <a:spcPct val="150000"/>
              </a:lnSpc>
              <a:buClr>
                <a:schemeClr val="tx1"/>
              </a:buCl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Uses crypto wallets with Elliptic Curve Cryptography (ECC) for secure user authentication and transaction signing.</a:t>
            </a:r>
          </a:p>
          <a:p>
            <a:pPr marL="342900" lvl="0" indent="-342900" algn="just">
              <a:lnSpc>
                <a:spcPct val="150000"/>
              </a:lnSpc>
              <a:buClr>
                <a:schemeClr val="tx1"/>
              </a:buCl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Applies SHA-256 hashing to ensure integrity and uniqueness of NFT metadata.</a:t>
            </a:r>
          </a:p>
          <a:p>
            <a:pPr marL="342900" lvl="0" indent="-342900" algn="just">
              <a:lnSpc>
                <a:spcPct val="150000"/>
              </a:lnSpc>
              <a:buClr>
                <a:schemeClr val="tx1"/>
              </a:buCl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Executes Solidity smart contracts on the Ethereum Virtual Machine (EVM) for NFT minting and ownership transfer.</a:t>
            </a:r>
          </a:p>
          <a:p>
            <a:pPr marL="342900" lvl="0" indent="-342900" algn="just">
              <a:lnSpc>
                <a:spcPct val="150000"/>
              </a:lnSpc>
              <a:buClr>
                <a:schemeClr val="tx1"/>
              </a:buCl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Stores critical ownership data on the blockchain and off-chain metadata in MongoDB to reduce gas costs and improve efficiency.</a:t>
            </a:r>
          </a:p>
        </p:txBody>
      </p:sp>
    </p:spTree>
    <p:extLst>
      <p:ext uri="{BB962C8B-B14F-4D97-AF65-F5344CB8AC3E}">
        <p14:creationId xmlns:p14="http://schemas.microsoft.com/office/powerpoint/2010/main" val="2261183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a:xfrm>
            <a:off x="10456832" y="6386173"/>
            <a:ext cx="1312025" cy="365125"/>
          </a:xfrm>
        </p:spPr>
        <p:txBody>
          <a:bodyPr/>
          <a:lstStyle/>
          <a:p>
            <a:fld id="{50C91C40-65BD-436B-B794-CF89343271EF}" type="slidenum">
              <a:rPr lang="en-US" sz="2000" smtClean="0"/>
              <a:t>13</a:t>
            </a:fld>
            <a:endParaRPr lang="en-US" sz="2000" dirty="0"/>
          </a:p>
        </p:txBody>
      </p:sp>
      <p:sp>
        <p:nvSpPr>
          <p:cNvPr id="5" name="Footer Placeholder 4"/>
          <p:cNvSpPr>
            <a:spLocks noGrp="1"/>
          </p:cNvSpPr>
          <p:nvPr>
            <p:ph type="ftr" sz="quarter" idx="11"/>
          </p:nvPr>
        </p:nvSpPr>
        <p:spPr>
          <a:xfrm>
            <a:off x="1069431" y="6386173"/>
            <a:ext cx="9136023" cy="356382"/>
          </a:xfrm>
        </p:spPr>
        <p:txBody>
          <a:bodyPr/>
          <a:lstStyle/>
          <a:p>
            <a:pPr algn="l"/>
            <a:r>
              <a:rPr lang="en-US" sz="2000" dirty="0"/>
              <a:t>DEPARTMENT OF COMPUTER SCIENCE AND ENGINEERING</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665" y="37033"/>
            <a:ext cx="3470335" cy="689927"/>
          </a:xfrm>
          <a:prstGeom prst="rect">
            <a:avLst/>
          </a:prstGeom>
        </p:spPr>
      </p:pic>
      <p:pic>
        <p:nvPicPr>
          <p:cNvPr id="15" name="Picture 14"/>
          <p:cNvPicPr>
            <a:picLocks noChangeAspect="1"/>
          </p:cNvPicPr>
          <p:nvPr/>
        </p:nvPicPr>
        <p:blipFill>
          <a:blip r:embed="rId4"/>
          <a:stretch>
            <a:fillRect/>
          </a:stretch>
        </p:blipFill>
        <p:spPr>
          <a:xfrm>
            <a:off x="0" y="5704366"/>
            <a:ext cx="1153634" cy="1153634"/>
          </a:xfrm>
          <a:prstGeom prst="rect">
            <a:avLst/>
          </a:prstGeom>
        </p:spPr>
      </p:pic>
      <p:sp>
        <p:nvSpPr>
          <p:cNvPr id="3" name="TextBox 2"/>
          <p:cNvSpPr txBox="1"/>
          <p:nvPr/>
        </p:nvSpPr>
        <p:spPr>
          <a:xfrm>
            <a:off x="251967" y="381996"/>
            <a:ext cx="10020870" cy="1133965"/>
          </a:xfrm>
          <a:prstGeom prst="rect">
            <a:avLst/>
          </a:prstGeom>
          <a:noFill/>
        </p:spPr>
        <p:txBody>
          <a:bodyPr wrap="square" rtlCol="0">
            <a:spAutoFit/>
          </a:bodyPr>
          <a:lstStyle/>
          <a:p>
            <a:pPr marR="0" lvl="0" algn="l" rtl="0">
              <a:lnSpc>
                <a:spcPct val="150000"/>
              </a:lnSpc>
              <a:spcBef>
                <a:spcPts val="0"/>
              </a:spcBef>
              <a:spcAft>
                <a:spcPts val="0"/>
              </a:spcAft>
              <a:buClr>
                <a:srgbClr val="FF0000"/>
              </a:buClr>
            </a:pPr>
            <a:r>
              <a:rPr lang="en-US" sz="24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System Architecture:- </a:t>
            </a:r>
          </a:p>
          <a:p>
            <a:pPr marR="0" lvl="0" algn="l" rtl="0">
              <a:lnSpc>
                <a:spcPct val="150000"/>
              </a:lnSpc>
              <a:spcBef>
                <a:spcPts val="0"/>
              </a:spcBef>
              <a:spcAft>
                <a:spcPts val="0"/>
              </a:spcAft>
              <a:buClr>
                <a:srgbClr val="FF0000"/>
              </a:buClr>
            </a:pPr>
            <a:endParaRPr lang="en-US" sz="24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cxnSp>
        <p:nvCxnSpPr>
          <p:cNvPr id="7" name="Straight Arrow Connector 6">
            <a:extLst>
              <a:ext uri="{FF2B5EF4-FFF2-40B4-BE49-F238E27FC236}">
                <a16:creationId xmlns:a16="http://schemas.microsoft.com/office/drawing/2014/main" id="{1188107D-B9A7-A804-D870-9EBB703459D3}"/>
              </a:ext>
            </a:extLst>
          </p:cNvPr>
          <p:cNvCxnSpPr/>
          <p:nvPr/>
        </p:nvCxnSpPr>
        <p:spPr>
          <a:xfrm>
            <a:off x="10272837" y="2336800"/>
            <a:ext cx="0" cy="711200"/>
          </a:xfrm>
          <a:prstGeom prst="straightConnector1">
            <a:avLst/>
          </a:prstGeom>
          <a:ln>
            <a:solidFill>
              <a:schemeClr val="tx1"/>
            </a:solidFill>
            <a:tailEnd type="triangle"/>
          </a:ln>
          <a:scene3d>
            <a:camera prst="isometricOffAxis1Left"/>
            <a:lightRig rig="threePt" dir="t"/>
          </a:scene3d>
        </p:spPr>
        <p:style>
          <a:lnRef idx="1">
            <a:schemeClr val="dk1"/>
          </a:lnRef>
          <a:fillRef idx="0">
            <a:schemeClr val="dk1"/>
          </a:fillRef>
          <a:effectRef idx="0">
            <a:schemeClr val="dk1"/>
          </a:effectRef>
          <a:fontRef idx="minor">
            <a:schemeClr val="tx1"/>
          </a:fontRef>
        </p:style>
      </p:cxnSp>
      <p:pic>
        <p:nvPicPr>
          <p:cNvPr id="10" name="Picture 9">
            <a:extLst>
              <a:ext uri="{FF2B5EF4-FFF2-40B4-BE49-F238E27FC236}">
                <a16:creationId xmlns:a16="http://schemas.microsoft.com/office/drawing/2014/main" id="{0AB3AE28-DD2C-DD8E-4AD7-5C08F6576839}"/>
              </a:ext>
            </a:extLst>
          </p:cNvPr>
          <p:cNvPicPr>
            <a:picLocks noChangeAspect="1"/>
          </p:cNvPicPr>
          <p:nvPr/>
        </p:nvPicPr>
        <p:blipFill>
          <a:blip r:embed="rId5"/>
          <a:stretch>
            <a:fillRect/>
          </a:stretch>
        </p:blipFill>
        <p:spPr>
          <a:xfrm>
            <a:off x="0" y="106702"/>
            <a:ext cx="12192000" cy="636925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a:xfrm>
            <a:off x="10456832" y="6386173"/>
            <a:ext cx="1312025" cy="365125"/>
          </a:xfrm>
        </p:spPr>
        <p:txBody>
          <a:bodyPr/>
          <a:lstStyle/>
          <a:p>
            <a:fld id="{50C91C40-65BD-436B-B794-CF89343271EF}" type="slidenum">
              <a:rPr lang="en-US" sz="2000" smtClean="0"/>
              <a:t>14</a:t>
            </a:fld>
            <a:endParaRPr lang="en-US" sz="2000" dirty="0"/>
          </a:p>
        </p:txBody>
      </p:sp>
      <p:sp>
        <p:nvSpPr>
          <p:cNvPr id="5" name="Footer Placeholder 4"/>
          <p:cNvSpPr>
            <a:spLocks noGrp="1"/>
          </p:cNvSpPr>
          <p:nvPr>
            <p:ph type="ftr" sz="quarter" idx="11"/>
          </p:nvPr>
        </p:nvSpPr>
        <p:spPr>
          <a:xfrm>
            <a:off x="1069431" y="6386173"/>
            <a:ext cx="9136023" cy="356382"/>
          </a:xfrm>
        </p:spPr>
        <p:txBody>
          <a:bodyPr/>
          <a:lstStyle/>
          <a:p>
            <a:pPr algn="l"/>
            <a:r>
              <a:rPr lang="en-US" sz="2000" dirty="0"/>
              <a:t>DEPARTMENT OF COMPUTER SCIENCE AND ENGINEERING</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665" y="37033"/>
            <a:ext cx="3470335" cy="689927"/>
          </a:xfrm>
          <a:prstGeom prst="rect">
            <a:avLst/>
          </a:prstGeom>
        </p:spPr>
      </p:pic>
      <p:pic>
        <p:nvPicPr>
          <p:cNvPr id="15" name="Picture 14"/>
          <p:cNvPicPr>
            <a:picLocks noChangeAspect="1"/>
          </p:cNvPicPr>
          <p:nvPr/>
        </p:nvPicPr>
        <p:blipFill>
          <a:blip r:embed="rId4"/>
          <a:stretch>
            <a:fillRect/>
          </a:stretch>
        </p:blipFill>
        <p:spPr>
          <a:xfrm>
            <a:off x="0" y="5704366"/>
            <a:ext cx="1153634" cy="1153634"/>
          </a:xfrm>
          <a:prstGeom prst="rect">
            <a:avLst/>
          </a:prstGeom>
        </p:spPr>
      </p:pic>
      <p:sp>
        <p:nvSpPr>
          <p:cNvPr id="3" name="TextBox 2"/>
          <p:cNvSpPr txBox="1"/>
          <p:nvPr/>
        </p:nvSpPr>
        <p:spPr>
          <a:xfrm>
            <a:off x="764167" y="1083576"/>
            <a:ext cx="10020870" cy="2899320"/>
          </a:xfrm>
          <a:prstGeom prst="rect">
            <a:avLst/>
          </a:prstGeom>
          <a:noFill/>
        </p:spPr>
        <p:txBody>
          <a:bodyPr wrap="square" rtlCol="0">
            <a:spAutoFit/>
          </a:bodyPr>
          <a:lstStyle/>
          <a:p>
            <a:pPr marR="0" lvl="0" algn="l" rtl="0">
              <a:lnSpc>
                <a:spcPct val="150000"/>
              </a:lnSpc>
              <a:spcBef>
                <a:spcPts val="0"/>
              </a:spcBef>
              <a:spcAft>
                <a:spcPts val="0"/>
              </a:spcAft>
              <a:buClr>
                <a:srgbClr val="FF0000"/>
              </a:buClr>
            </a:pPr>
            <a:r>
              <a:rPr lang="en-US" sz="24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Modules :-</a:t>
            </a:r>
          </a:p>
          <a:p>
            <a:pPr marL="342900" lvl="0" indent="-342900" algn="just">
              <a:lnSpc>
                <a:spcPct val="150000"/>
              </a:lnSpc>
              <a:buClr>
                <a:schemeClr val="tx1"/>
              </a:buClr>
              <a:buFont typeface="Wingdings" panose="05000000000000000000" pitchFamily="2" charset="2"/>
              <a:buChar char="v"/>
            </a:pPr>
            <a:r>
              <a:rPr lang="en-US" sz="2000" b="1"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User Wallet Module</a:t>
            </a:r>
          </a:p>
          <a:p>
            <a:pPr marL="342900" lvl="0" indent="-342900" algn="just">
              <a:lnSpc>
                <a:spcPct val="150000"/>
              </a:lnSpc>
              <a:buClr>
                <a:schemeClr val="tx1"/>
              </a:buClr>
              <a:buFont typeface="Wingdings" panose="05000000000000000000" pitchFamily="2" charset="2"/>
              <a:buChar char="v"/>
            </a:pPr>
            <a:r>
              <a:rPr lang="en-US" sz="2000" b="1"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NFT Minting Module</a:t>
            </a:r>
          </a:p>
          <a:p>
            <a:pPr marL="342900" lvl="0" indent="-342900" algn="just">
              <a:lnSpc>
                <a:spcPct val="150000"/>
              </a:lnSpc>
              <a:buClr>
                <a:schemeClr val="tx1"/>
              </a:buClr>
              <a:buFont typeface="Wingdings" panose="05000000000000000000" pitchFamily="2" charset="2"/>
              <a:buChar char="v"/>
            </a:pPr>
            <a:r>
              <a:rPr lang="en-US" sz="2000" b="1"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Marketplace Module</a:t>
            </a:r>
          </a:p>
          <a:p>
            <a:pPr marL="342900" lvl="0" indent="-342900" algn="just">
              <a:lnSpc>
                <a:spcPct val="150000"/>
              </a:lnSpc>
              <a:buClr>
                <a:schemeClr val="tx1"/>
              </a:buClr>
              <a:buFont typeface="Wingdings" panose="05000000000000000000" pitchFamily="2" charset="2"/>
              <a:buChar char="v"/>
            </a:pPr>
            <a:r>
              <a:rPr lang="en-US" sz="2000" b="1"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Transaction Module</a:t>
            </a:r>
          </a:p>
          <a:p>
            <a:pPr marL="342900" lvl="0" indent="-342900" algn="just">
              <a:lnSpc>
                <a:spcPct val="150000"/>
              </a:lnSpc>
              <a:buClr>
                <a:schemeClr val="tx1"/>
              </a:buClr>
              <a:buFont typeface="Wingdings" panose="05000000000000000000" pitchFamily="2" charset="2"/>
              <a:buChar char="v"/>
            </a:pPr>
            <a:r>
              <a:rPr lang="en-US" sz="2000" b="1"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Database Module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0DF94-2CC1-462F-CAFD-BF6C2A325B01}"/>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9FB4CC76-2226-3DA2-6568-822B0A501CD3}"/>
              </a:ext>
            </a:extLst>
          </p:cNvPr>
          <p:cNvSpPr>
            <a:spLocks noGrp="1"/>
          </p:cNvSpPr>
          <p:nvPr>
            <p:ph type="sldNum" sz="quarter" idx="12"/>
          </p:nvPr>
        </p:nvSpPr>
        <p:spPr>
          <a:xfrm>
            <a:off x="10456832" y="6386173"/>
            <a:ext cx="1312025" cy="365125"/>
          </a:xfrm>
        </p:spPr>
        <p:txBody>
          <a:bodyPr/>
          <a:lstStyle/>
          <a:p>
            <a:fld id="{50C91C40-65BD-436B-B794-CF89343271EF}" type="slidenum">
              <a:rPr lang="en-US" sz="2000" smtClean="0"/>
              <a:t>15</a:t>
            </a:fld>
            <a:endParaRPr lang="en-US" sz="2000" dirty="0"/>
          </a:p>
        </p:txBody>
      </p:sp>
      <p:sp>
        <p:nvSpPr>
          <p:cNvPr id="5" name="Footer Placeholder 4">
            <a:extLst>
              <a:ext uri="{FF2B5EF4-FFF2-40B4-BE49-F238E27FC236}">
                <a16:creationId xmlns:a16="http://schemas.microsoft.com/office/drawing/2014/main" id="{B7DB7C4D-3700-1DE3-8B6F-770FBD9EA1D7}"/>
              </a:ext>
            </a:extLst>
          </p:cNvPr>
          <p:cNvSpPr>
            <a:spLocks noGrp="1"/>
          </p:cNvSpPr>
          <p:nvPr>
            <p:ph type="ftr" sz="quarter" idx="11"/>
          </p:nvPr>
        </p:nvSpPr>
        <p:spPr>
          <a:xfrm>
            <a:off x="1069431" y="6386173"/>
            <a:ext cx="9136023" cy="356382"/>
          </a:xfrm>
        </p:spPr>
        <p:txBody>
          <a:bodyPr/>
          <a:lstStyle/>
          <a:p>
            <a:pPr algn="l"/>
            <a:r>
              <a:rPr lang="en-US" sz="2000" dirty="0"/>
              <a:t>DEPARTMENT OF COMPUTER SCIENCE AND ENGINEERING</a:t>
            </a:r>
          </a:p>
        </p:txBody>
      </p:sp>
      <p:pic>
        <p:nvPicPr>
          <p:cNvPr id="11" name="Picture 10">
            <a:extLst>
              <a:ext uri="{FF2B5EF4-FFF2-40B4-BE49-F238E27FC236}">
                <a16:creationId xmlns:a16="http://schemas.microsoft.com/office/drawing/2014/main" id="{C39667C4-FBC4-D2B2-B4E2-9C241C6A2C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665" y="37033"/>
            <a:ext cx="3470335" cy="689927"/>
          </a:xfrm>
          <a:prstGeom prst="rect">
            <a:avLst/>
          </a:prstGeom>
        </p:spPr>
      </p:pic>
      <p:pic>
        <p:nvPicPr>
          <p:cNvPr id="15" name="Picture 14">
            <a:extLst>
              <a:ext uri="{FF2B5EF4-FFF2-40B4-BE49-F238E27FC236}">
                <a16:creationId xmlns:a16="http://schemas.microsoft.com/office/drawing/2014/main" id="{F0D28406-F7E3-6A8A-43EE-10B79D622F4C}"/>
              </a:ext>
            </a:extLst>
          </p:cNvPr>
          <p:cNvPicPr>
            <a:picLocks noChangeAspect="1"/>
          </p:cNvPicPr>
          <p:nvPr/>
        </p:nvPicPr>
        <p:blipFill>
          <a:blip r:embed="rId4"/>
          <a:stretch>
            <a:fillRect/>
          </a:stretch>
        </p:blipFill>
        <p:spPr>
          <a:xfrm>
            <a:off x="0" y="5704366"/>
            <a:ext cx="1153634" cy="1153634"/>
          </a:xfrm>
          <a:prstGeom prst="rect">
            <a:avLst/>
          </a:prstGeom>
        </p:spPr>
      </p:pic>
      <p:sp>
        <p:nvSpPr>
          <p:cNvPr id="3" name="TextBox 2">
            <a:extLst>
              <a:ext uri="{FF2B5EF4-FFF2-40B4-BE49-F238E27FC236}">
                <a16:creationId xmlns:a16="http://schemas.microsoft.com/office/drawing/2014/main" id="{0B3C7D19-999C-0729-64D6-180C540D87D7}"/>
              </a:ext>
            </a:extLst>
          </p:cNvPr>
          <p:cNvSpPr txBox="1"/>
          <p:nvPr/>
        </p:nvSpPr>
        <p:spPr>
          <a:xfrm>
            <a:off x="576817" y="1408767"/>
            <a:ext cx="11369921" cy="2995692"/>
          </a:xfrm>
          <a:prstGeom prst="rect">
            <a:avLst/>
          </a:prstGeom>
          <a:noFill/>
        </p:spPr>
        <p:txBody>
          <a:bodyPr wrap="square" rtlCol="0">
            <a:spAutoFit/>
          </a:bodyPr>
          <a:lstStyle/>
          <a:p>
            <a:pPr>
              <a:lnSpc>
                <a:spcPct val="150000"/>
              </a:lnSpc>
            </a:pPr>
            <a:r>
              <a:rPr lang="en-US" sz="2000" b="1"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User Wallet Module </a:t>
            </a:r>
            <a:r>
              <a:rPr lang="en-IN" sz="2000" b="1" dirty="0">
                <a:latin typeface="Times New Roman" panose="02020603050405020304" pitchFamily="18" charset="0"/>
                <a:cs typeface="Times New Roman" panose="02020603050405020304" pitchFamily="18" charset="0"/>
              </a:rPr>
              <a:t>:-</a:t>
            </a:r>
          </a:p>
          <a:p>
            <a:pPr marL="342900" indent="-342900">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Connects the user's cryptocurrency wallet (such as MetaMask) to the NFT marketplace platform.</a:t>
            </a:r>
          </a:p>
          <a:p>
            <a:pPr marL="342900" indent="-342900">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Enables secure user authentication through blockchain wallet addresses.</a:t>
            </a:r>
          </a:p>
          <a:p>
            <a:pPr marL="342900" indent="-342900">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Uses public key cryptography where the public key acts as the wallet address and the private key is used for secure transaction signing.</a:t>
            </a:r>
          </a:p>
          <a:p>
            <a:pPr marL="342900" indent="-342900">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Generates digital signatures to verify the authenticity of transactions.</a:t>
            </a:r>
          </a:p>
          <a:p>
            <a:pPr marL="342900" indent="-342900">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Elliptic Curve Cryptography (ECC) ensures secure wallet authentication and transaction verification.</a:t>
            </a:r>
            <a:endParaRPr lang="en-US" sz="1800" dirty="0">
              <a:latin typeface="Times New Roman" panose="02020603050405020304" pitchFamily="18" charset="0"/>
              <a:cs typeface="Times New Roman" panose="02020603050405020304" pitchFamily="18" charset="0"/>
              <a:sym typeface="Times New Roman" panose="02020603050405020304"/>
            </a:endParaRPr>
          </a:p>
        </p:txBody>
      </p:sp>
    </p:spTree>
    <p:extLst>
      <p:ext uri="{BB962C8B-B14F-4D97-AF65-F5344CB8AC3E}">
        <p14:creationId xmlns:p14="http://schemas.microsoft.com/office/powerpoint/2010/main" val="10865667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F5B99-A40D-5898-79A4-89E62FD8F106}"/>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03C4E3C1-7250-0C7D-82B1-5EA64CD366A4}"/>
              </a:ext>
            </a:extLst>
          </p:cNvPr>
          <p:cNvSpPr>
            <a:spLocks noGrp="1"/>
          </p:cNvSpPr>
          <p:nvPr>
            <p:ph type="sldNum" sz="quarter" idx="12"/>
          </p:nvPr>
        </p:nvSpPr>
        <p:spPr>
          <a:xfrm>
            <a:off x="10456832" y="6386173"/>
            <a:ext cx="1312025" cy="365125"/>
          </a:xfrm>
        </p:spPr>
        <p:txBody>
          <a:bodyPr/>
          <a:lstStyle/>
          <a:p>
            <a:fld id="{50C91C40-65BD-436B-B794-CF89343271EF}" type="slidenum">
              <a:rPr lang="en-US" sz="2000" smtClean="0"/>
              <a:t>16</a:t>
            </a:fld>
            <a:endParaRPr lang="en-US" sz="2000" dirty="0"/>
          </a:p>
        </p:txBody>
      </p:sp>
      <p:sp>
        <p:nvSpPr>
          <p:cNvPr id="5" name="Footer Placeholder 4">
            <a:extLst>
              <a:ext uri="{FF2B5EF4-FFF2-40B4-BE49-F238E27FC236}">
                <a16:creationId xmlns:a16="http://schemas.microsoft.com/office/drawing/2014/main" id="{E0E8B23A-E432-E15D-5127-3C76BAC3DB36}"/>
              </a:ext>
            </a:extLst>
          </p:cNvPr>
          <p:cNvSpPr>
            <a:spLocks noGrp="1"/>
          </p:cNvSpPr>
          <p:nvPr>
            <p:ph type="ftr" sz="quarter" idx="11"/>
          </p:nvPr>
        </p:nvSpPr>
        <p:spPr>
          <a:xfrm>
            <a:off x="1069431" y="6386173"/>
            <a:ext cx="9136023" cy="356382"/>
          </a:xfrm>
        </p:spPr>
        <p:txBody>
          <a:bodyPr/>
          <a:lstStyle/>
          <a:p>
            <a:pPr algn="l"/>
            <a:r>
              <a:rPr lang="en-US" sz="2000" dirty="0"/>
              <a:t>DEPARTMENT OF COMPUTER SCIENCE AND ENGINEERING</a:t>
            </a:r>
          </a:p>
        </p:txBody>
      </p:sp>
      <p:pic>
        <p:nvPicPr>
          <p:cNvPr id="11" name="Picture 10">
            <a:extLst>
              <a:ext uri="{FF2B5EF4-FFF2-40B4-BE49-F238E27FC236}">
                <a16:creationId xmlns:a16="http://schemas.microsoft.com/office/drawing/2014/main" id="{5E21AF48-4CB8-ED7F-52F9-01BCC9A100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665" y="37033"/>
            <a:ext cx="3470335" cy="689927"/>
          </a:xfrm>
          <a:prstGeom prst="rect">
            <a:avLst/>
          </a:prstGeom>
        </p:spPr>
      </p:pic>
      <p:pic>
        <p:nvPicPr>
          <p:cNvPr id="15" name="Picture 14">
            <a:extLst>
              <a:ext uri="{FF2B5EF4-FFF2-40B4-BE49-F238E27FC236}">
                <a16:creationId xmlns:a16="http://schemas.microsoft.com/office/drawing/2014/main" id="{15EFDB4F-2C81-4662-A23F-9F1D45AEB2F0}"/>
              </a:ext>
            </a:extLst>
          </p:cNvPr>
          <p:cNvPicPr>
            <a:picLocks noChangeAspect="1"/>
          </p:cNvPicPr>
          <p:nvPr/>
        </p:nvPicPr>
        <p:blipFill>
          <a:blip r:embed="rId4"/>
          <a:stretch>
            <a:fillRect/>
          </a:stretch>
        </p:blipFill>
        <p:spPr>
          <a:xfrm>
            <a:off x="0" y="5704366"/>
            <a:ext cx="1153634" cy="1153634"/>
          </a:xfrm>
          <a:prstGeom prst="rect">
            <a:avLst/>
          </a:prstGeom>
        </p:spPr>
      </p:pic>
      <p:sp>
        <p:nvSpPr>
          <p:cNvPr id="3" name="TextBox 2">
            <a:extLst>
              <a:ext uri="{FF2B5EF4-FFF2-40B4-BE49-F238E27FC236}">
                <a16:creationId xmlns:a16="http://schemas.microsoft.com/office/drawing/2014/main" id="{F3B2FF1D-0C54-529C-8BA4-9F843D970F99}"/>
              </a:ext>
            </a:extLst>
          </p:cNvPr>
          <p:cNvSpPr txBox="1"/>
          <p:nvPr/>
        </p:nvSpPr>
        <p:spPr>
          <a:xfrm>
            <a:off x="576817" y="926176"/>
            <a:ext cx="11369921" cy="3412729"/>
          </a:xfrm>
          <a:prstGeom prst="rect">
            <a:avLst/>
          </a:prstGeom>
          <a:noFill/>
        </p:spPr>
        <p:txBody>
          <a:bodyPr wrap="square" rtlCol="0">
            <a:spAutoFit/>
          </a:bodyPr>
          <a:lstStyle/>
          <a:p>
            <a:pPr>
              <a:lnSpc>
                <a:spcPct val="150000"/>
              </a:lnSpc>
            </a:pPr>
            <a:endParaRPr lang="en-IN" sz="1800" dirty="0">
              <a:latin typeface="Times New Roman" panose="02020603050405020304" pitchFamily="18" charset="0"/>
              <a:cs typeface="Times New Roman" panose="02020603050405020304" pitchFamily="18" charset="0"/>
            </a:endParaRPr>
          </a:p>
          <a:p>
            <a:pPr>
              <a:lnSpc>
                <a:spcPct val="150000"/>
              </a:lnSpc>
            </a:pPr>
            <a:r>
              <a:rPr lang="en-US" sz="2000" b="1"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NFT Minting Module </a:t>
            </a:r>
            <a:r>
              <a:rPr lang="en-US" sz="2000" b="1" dirty="0">
                <a:latin typeface="Times New Roman" panose="02020603050405020304" pitchFamily="18" charset="0"/>
                <a:cs typeface="Times New Roman" panose="02020603050405020304" pitchFamily="18" charset="0"/>
              </a:rPr>
              <a:t>:-</a:t>
            </a:r>
          </a:p>
          <a:p>
            <a:pPr marL="342900" indent="-342900">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Converts digital assets such as images, videos, or documents into Non-Fungible Tokens (NFTs).</a:t>
            </a:r>
          </a:p>
          <a:p>
            <a:pPr marL="342900" indent="-342900">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Generates a unique Token ID for each NFT created on the platform.</a:t>
            </a:r>
          </a:p>
          <a:p>
            <a:pPr marL="342900" indent="-342900">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Stores metadata including asset name, description, creator information, and ownership details.</a:t>
            </a:r>
          </a:p>
          <a:p>
            <a:pPr marL="342900" indent="-342900">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Uses Solidity-based smart contracts to manage NFT creation and ownership on the blockchain.</a:t>
            </a:r>
          </a:p>
          <a:p>
            <a:pPr marL="342900" indent="-342900">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Applies the SHA-256 hashing algorithm to ensure uniqueness and maintain data integrity.</a:t>
            </a:r>
          </a:p>
          <a:p>
            <a:pPr marL="342900" indent="-342900">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Executes smart contracts through the Ethereum Virtual Machine (EVM).</a:t>
            </a:r>
            <a:endParaRPr lang="en-US" sz="2000" b="1"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spTree>
    <p:extLst>
      <p:ext uri="{BB962C8B-B14F-4D97-AF65-F5344CB8AC3E}">
        <p14:creationId xmlns:p14="http://schemas.microsoft.com/office/powerpoint/2010/main" val="28312578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E92F0-59B9-462B-AF86-AAA628F364EC}"/>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E002F88-0836-A094-50DB-822D2FB924F1}"/>
              </a:ext>
            </a:extLst>
          </p:cNvPr>
          <p:cNvSpPr>
            <a:spLocks noGrp="1"/>
          </p:cNvSpPr>
          <p:nvPr>
            <p:ph type="sldNum" sz="quarter" idx="12"/>
          </p:nvPr>
        </p:nvSpPr>
        <p:spPr>
          <a:xfrm>
            <a:off x="10456832" y="6386173"/>
            <a:ext cx="1312025" cy="365125"/>
          </a:xfrm>
        </p:spPr>
        <p:txBody>
          <a:bodyPr/>
          <a:lstStyle/>
          <a:p>
            <a:fld id="{50C91C40-65BD-436B-B794-CF89343271EF}" type="slidenum">
              <a:rPr lang="en-US" sz="2000" smtClean="0"/>
              <a:t>17</a:t>
            </a:fld>
            <a:endParaRPr lang="en-US" sz="2000" dirty="0"/>
          </a:p>
        </p:txBody>
      </p:sp>
      <p:sp>
        <p:nvSpPr>
          <p:cNvPr id="5" name="Footer Placeholder 4">
            <a:extLst>
              <a:ext uri="{FF2B5EF4-FFF2-40B4-BE49-F238E27FC236}">
                <a16:creationId xmlns:a16="http://schemas.microsoft.com/office/drawing/2014/main" id="{41E20841-15EB-5F37-70F0-B9D01963CDB1}"/>
              </a:ext>
            </a:extLst>
          </p:cNvPr>
          <p:cNvSpPr>
            <a:spLocks noGrp="1"/>
          </p:cNvSpPr>
          <p:nvPr>
            <p:ph type="ftr" sz="quarter" idx="11"/>
          </p:nvPr>
        </p:nvSpPr>
        <p:spPr>
          <a:xfrm>
            <a:off x="1069431" y="6386173"/>
            <a:ext cx="9136023" cy="356382"/>
          </a:xfrm>
        </p:spPr>
        <p:txBody>
          <a:bodyPr/>
          <a:lstStyle/>
          <a:p>
            <a:pPr algn="l"/>
            <a:r>
              <a:rPr lang="en-US" sz="2000" dirty="0"/>
              <a:t>DEPARTMENT OF COMPUTER SCIENCE AND ENGINEERING</a:t>
            </a:r>
          </a:p>
        </p:txBody>
      </p:sp>
      <p:pic>
        <p:nvPicPr>
          <p:cNvPr id="11" name="Picture 10">
            <a:extLst>
              <a:ext uri="{FF2B5EF4-FFF2-40B4-BE49-F238E27FC236}">
                <a16:creationId xmlns:a16="http://schemas.microsoft.com/office/drawing/2014/main" id="{5A278670-B567-ADD6-1A31-AC0EF2C1A2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665" y="37033"/>
            <a:ext cx="3470335" cy="689927"/>
          </a:xfrm>
          <a:prstGeom prst="rect">
            <a:avLst/>
          </a:prstGeom>
        </p:spPr>
      </p:pic>
      <p:pic>
        <p:nvPicPr>
          <p:cNvPr id="15" name="Picture 14">
            <a:extLst>
              <a:ext uri="{FF2B5EF4-FFF2-40B4-BE49-F238E27FC236}">
                <a16:creationId xmlns:a16="http://schemas.microsoft.com/office/drawing/2014/main" id="{57AD485A-EBA4-A2AB-CC92-D8EAAE876E04}"/>
              </a:ext>
            </a:extLst>
          </p:cNvPr>
          <p:cNvPicPr>
            <a:picLocks noChangeAspect="1"/>
          </p:cNvPicPr>
          <p:nvPr/>
        </p:nvPicPr>
        <p:blipFill>
          <a:blip r:embed="rId4"/>
          <a:stretch>
            <a:fillRect/>
          </a:stretch>
        </p:blipFill>
        <p:spPr>
          <a:xfrm>
            <a:off x="0" y="5704366"/>
            <a:ext cx="1153634" cy="1153634"/>
          </a:xfrm>
          <a:prstGeom prst="rect">
            <a:avLst/>
          </a:prstGeom>
        </p:spPr>
      </p:pic>
      <p:sp>
        <p:nvSpPr>
          <p:cNvPr id="3" name="TextBox 2">
            <a:extLst>
              <a:ext uri="{FF2B5EF4-FFF2-40B4-BE49-F238E27FC236}">
                <a16:creationId xmlns:a16="http://schemas.microsoft.com/office/drawing/2014/main" id="{BCF5CC01-CE16-9072-F21F-928B0C8FC071}"/>
              </a:ext>
            </a:extLst>
          </p:cNvPr>
          <p:cNvSpPr txBox="1"/>
          <p:nvPr/>
        </p:nvSpPr>
        <p:spPr>
          <a:xfrm>
            <a:off x="576817" y="931169"/>
            <a:ext cx="11369921" cy="3222485"/>
          </a:xfrm>
          <a:prstGeom prst="rect">
            <a:avLst/>
          </a:prstGeom>
          <a:noFill/>
        </p:spPr>
        <p:txBody>
          <a:bodyPr wrap="square" rtlCol="0">
            <a:spAutoFit/>
          </a:bodyPr>
          <a:lstStyle/>
          <a:p>
            <a:pPr>
              <a:lnSpc>
                <a:spcPct val="150000"/>
              </a:lnSpc>
            </a:pPr>
            <a:endParaRPr lang="en-IN" sz="1800" dirty="0">
              <a:latin typeface="Times New Roman" panose="02020603050405020304" pitchFamily="18" charset="0"/>
              <a:cs typeface="Times New Roman" panose="02020603050405020304" pitchFamily="18" charset="0"/>
            </a:endParaRPr>
          </a:p>
          <a:p>
            <a:pPr>
              <a:lnSpc>
                <a:spcPct val="150000"/>
              </a:lnSpc>
            </a:pPr>
            <a:r>
              <a:rPr lang="en-US" sz="2000" b="1"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Marketplace Module</a:t>
            </a:r>
          </a:p>
          <a:p>
            <a:pPr marL="342900" indent="-342900">
              <a:lnSpc>
                <a:spcPct val="150000"/>
              </a:lnSpc>
              <a:buFont typeface="Wingdings" panose="05000000000000000000" pitchFamily="2" charset="2"/>
              <a:buChar char="v"/>
            </a:pPr>
            <a:r>
              <a:rPr lang="en-US" sz="2000"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Allows users to list NFTs for sale within the decentralized marketplace platform.</a:t>
            </a:r>
          </a:p>
          <a:p>
            <a:pPr marL="342900" indent="-342900">
              <a:lnSpc>
                <a:spcPct val="150000"/>
              </a:lnSpc>
              <a:buFont typeface="Wingdings" panose="05000000000000000000" pitchFamily="2" charset="2"/>
              <a:buChar char="v"/>
            </a:pPr>
            <a:r>
              <a:rPr lang="en-US" sz="2000"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Enables peer-to-peer NFT trading between buyers and sellers without intermediaries.</a:t>
            </a:r>
          </a:p>
          <a:p>
            <a:pPr marL="342900" indent="-342900">
              <a:lnSpc>
                <a:spcPct val="150000"/>
              </a:lnSpc>
              <a:buFont typeface="Wingdings" panose="05000000000000000000" pitchFamily="2" charset="2"/>
              <a:buChar char="v"/>
            </a:pPr>
            <a:r>
              <a:rPr lang="en-US" sz="2000"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Displays NFT details including price, creator information, and ownership status.</a:t>
            </a:r>
          </a:p>
          <a:p>
            <a:pPr marL="342900" indent="-342900">
              <a:lnSpc>
                <a:spcPct val="150000"/>
              </a:lnSpc>
              <a:buFont typeface="Wingdings" panose="05000000000000000000" pitchFamily="2" charset="2"/>
              <a:buChar char="v"/>
            </a:pPr>
            <a:r>
              <a:rPr lang="en-US" sz="2000"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Smart contracts manage NFT listing, purchasing, and ownership transfer operations.</a:t>
            </a:r>
          </a:p>
          <a:p>
            <a:pPr marL="342900" indent="-342900">
              <a:lnSpc>
                <a:spcPct val="150000"/>
              </a:lnSpc>
              <a:buFont typeface="Wingdings" panose="05000000000000000000" pitchFamily="2" charset="2"/>
              <a:buChar char="v"/>
            </a:pPr>
            <a:r>
              <a:rPr lang="en-US" sz="2000"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Ensures transparent and immutable asset trading using blockchain technology.</a:t>
            </a:r>
            <a:endParaRPr lang="en-US" sz="2000" b="1"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spTree>
    <p:extLst>
      <p:ext uri="{BB962C8B-B14F-4D97-AF65-F5344CB8AC3E}">
        <p14:creationId xmlns:p14="http://schemas.microsoft.com/office/powerpoint/2010/main" val="4202684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0FF4A-B266-2A77-0742-B9996A278592}"/>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21026868-E581-12F3-7AD4-97221A5BB99C}"/>
              </a:ext>
            </a:extLst>
          </p:cNvPr>
          <p:cNvSpPr>
            <a:spLocks noGrp="1"/>
          </p:cNvSpPr>
          <p:nvPr>
            <p:ph type="sldNum" sz="quarter" idx="12"/>
          </p:nvPr>
        </p:nvSpPr>
        <p:spPr>
          <a:xfrm>
            <a:off x="10456832" y="6386173"/>
            <a:ext cx="1312025" cy="365125"/>
          </a:xfrm>
        </p:spPr>
        <p:txBody>
          <a:bodyPr/>
          <a:lstStyle/>
          <a:p>
            <a:fld id="{50C91C40-65BD-436B-B794-CF89343271EF}" type="slidenum">
              <a:rPr lang="en-US" sz="2000" smtClean="0"/>
              <a:t>18</a:t>
            </a:fld>
            <a:endParaRPr lang="en-US" sz="2000" dirty="0"/>
          </a:p>
        </p:txBody>
      </p:sp>
      <p:sp>
        <p:nvSpPr>
          <p:cNvPr id="5" name="Footer Placeholder 4">
            <a:extLst>
              <a:ext uri="{FF2B5EF4-FFF2-40B4-BE49-F238E27FC236}">
                <a16:creationId xmlns:a16="http://schemas.microsoft.com/office/drawing/2014/main" id="{50F632D6-C4D0-1742-F861-43397E0802D6}"/>
              </a:ext>
            </a:extLst>
          </p:cNvPr>
          <p:cNvSpPr>
            <a:spLocks noGrp="1"/>
          </p:cNvSpPr>
          <p:nvPr>
            <p:ph type="ftr" sz="quarter" idx="11"/>
          </p:nvPr>
        </p:nvSpPr>
        <p:spPr>
          <a:xfrm>
            <a:off x="1069431" y="6386173"/>
            <a:ext cx="9136023" cy="356382"/>
          </a:xfrm>
        </p:spPr>
        <p:txBody>
          <a:bodyPr/>
          <a:lstStyle/>
          <a:p>
            <a:pPr algn="l"/>
            <a:r>
              <a:rPr lang="en-US" sz="2000" dirty="0"/>
              <a:t>DEPARTMENT OF COMPUTER SCIENCE AND ENGINEERING</a:t>
            </a:r>
          </a:p>
        </p:txBody>
      </p:sp>
      <p:pic>
        <p:nvPicPr>
          <p:cNvPr id="11" name="Picture 10">
            <a:extLst>
              <a:ext uri="{FF2B5EF4-FFF2-40B4-BE49-F238E27FC236}">
                <a16:creationId xmlns:a16="http://schemas.microsoft.com/office/drawing/2014/main" id="{8DB52B04-C316-40D3-FE4B-5C8CAD5A69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665" y="37033"/>
            <a:ext cx="3470335" cy="689927"/>
          </a:xfrm>
          <a:prstGeom prst="rect">
            <a:avLst/>
          </a:prstGeom>
        </p:spPr>
      </p:pic>
      <p:pic>
        <p:nvPicPr>
          <p:cNvPr id="15" name="Picture 14">
            <a:extLst>
              <a:ext uri="{FF2B5EF4-FFF2-40B4-BE49-F238E27FC236}">
                <a16:creationId xmlns:a16="http://schemas.microsoft.com/office/drawing/2014/main" id="{312AC89D-796D-C439-54D1-9548773202C6}"/>
              </a:ext>
            </a:extLst>
          </p:cNvPr>
          <p:cNvPicPr>
            <a:picLocks noChangeAspect="1"/>
          </p:cNvPicPr>
          <p:nvPr/>
        </p:nvPicPr>
        <p:blipFill>
          <a:blip r:embed="rId4"/>
          <a:stretch>
            <a:fillRect/>
          </a:stretch>
        </p:blipFill>
        <p:spPr>
          <a:xfrm>
            <a:off x="0" y="5704366"/>
            <a:ext cx="1153634" cy="1153634"/>
          </a:xfrm>
          <a:prstGeom prst="rect">
            <a:avLst/>
          </a:prstGeom>
        </p:spPr>
      </p:pic>
      <p:sp>
        <p:nvSpPr>
          <p:cNvPr id="3" name="TextBox 2">
            <a:extLst>
              <a:ext uri="{FF2B5EF4-FFF2-40B4-BE49-F238E27FC236}">
                <a16:creationId xmlns:a16="http://schemas.microsoft.com/office/drawing/2014/main" id="{99CC0761-4BE8-1F67-289D-3483CC02F184}"/>
              </a:ext>
            </a:extLst>
          </p:cNvPr>
          <p:cNvSpPr txBox="1"/>
          <p:nvPr/>
        </p:nvSpPr>
        <p:spPr>
          <a:xfrm>
            <a:off x="411039" y="1032685"/>
            <a:ext cx="11369921" cy="3684150"/>
          </a:xfrm>
          <a:prstGeom prst="rect">
            <a:avLst/>
          </a:prstGeom>
          <a:noFill/>
        </p:spPr>
        <p:txBody>
          <a:bodyPr wrap="square" rtlCol="0">
            <a:spAutoFit/>
          </a:bodyPr>
          <a:lstStyle/>
          <a:p>
            <a:pPr>
              <a:lnSpc>
                <a:spcPct val="150000"/>
              </a:lnSpc>
            </a:pPr>
            <a:endParaRPr lang="en-IN" sz="1800" dirty="0">
              <a:latin typeface="Times New Roman" panose="02020603050405020304" pitchFamily="18" charset="0"/>
              <a:cs typeface="Times New Roman" panose="02020603050405020304" pitchFamily="18" charset="0"/>
            </a:endParaRPr>
          </a:p>
          <a:p>
            <a:pPr>
              <a:lnSpc>
                <a:spcPct val="150000"/>
              </a:lnSpc>
            </a:pPr>
            <a:r>
              <a:rPr lang="en-US" sz="2000" b="1"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Transaction Module</a:t>
            </a:r>
          </a:p>
          <a:p>
            <a:pPr marL="342900" indent="-342900">
              <a:lnSpc>
                <a:spcPct val="150000"/>
              </a:lnSpc>
              <a:buFont typeface="Wingdings" panose="05000000000000000000" pitchFamily="2" charset="2"/>
              <a:buChar char="v"/>
            </a:pPr>
            <a:r>
              <a:rPr lang="en-US" sz="2000"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Manages blockchain transactions related to NFT minting, buying, selling, and transferring.</a:t>
            </a:r>
          </a:p>
          <a:p>
            <a:pPr marL="342900" indent="-342900">
              <a:lnSpc>
                <a:spcPct val="150000"/>
              </a:lnSpc>
              <a:buFont typeface="Wingdings" panose="05000000000000000000" pitchFamily="2" charset="2"/>
              <a:buChar char="v"/>
            </a:pPr>
            <a:r>
              <a:rPr lang="en-US" sz="2000"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Each transaction generates a unique transaction hash for identification and tracking.</a:t>
            </a:r>
          </a:p>
          <a:p>
            <a:pPr marL="342900" indent="-342900">
              <a:lnSpc>
                <a:spcPct val="150000"/>
              </a:lnSpc>
              <a:buFont typeface="Wingdings" panose="05000000000000000000" pitchFamily="2" charset="2"/>
              <a:buChar char="v"/>
            </a:pPr>
            <a:r>
              <a:rPr lang="en-US" sz="2000"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Uses digital signatures to securely authorize transactions.</a:t>
            </a:r>
          </a:p>
          <a:p>
            <a:pPr marL="342900" indent="-342900">
              <a:lnSpc>
                <a:spcPct val="150000"/>
              </a:lnSpc>
              <a:buFont typeface="Wingdings" panose="05000000000000000000" pitchFamily="2" charset="2"/>
              <a:buChar char="v"/>
            </a:pPr>
            <a:r>
              <a:rPr lang="en-US" sz="2000"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Blockchain consensus algorithms validate and confirm transactions across the network.</a:t>
            </a:r>
          </a:p>
          <a:p>
            <a:pPr marL="342900" indent="-342900">
              <a:lnSpc>
                <a:spcPct val="150000"/>
              </a:lnSpc>
              <a:buFont typeface="Wingdings" panose="05000000000000000000" pitchFamily="2" charset="2"/>
              <a:buChar char="v"/>
            </a:pPr>
            <a:r>
              <a:rPr lang="en-US" sz="2000"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Proof of Work (PoW) and Proof of Stake (</a:t>
            </a:r>
            <a:r>
              <a:rPr lang="en-US" sz="2000" dirty="0" err="1">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PoS</a:t>
            </a:r>
            <a:r>
              <a:rPr lang="en-US" sz="2000"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mechanisms ensure secure and reliable transaction processing.</a:t>
            </a:r>
          </a:p>
        </p:txBody>
      </p:sp>
    </p:spTree>
    <p:extLst>
      <p:ext uri="{BB962C8B-B14F-4D97-AF65-F5344CB8AC3E}">
        <p14:creationId xmlns:p14="http://schemas.microsoft.com/office/powerpoint/2010/main" val="33117892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43FDD-4BD0-59DF-AF67-BF06FB728608}"/>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9A350E8A-34A9-69EB-7AB2-D713A07698D5}"/>
              </a:ext>
            </a:extLst>
          </p:cNvPr>
          <p:cNvSpPr>
            <a:spLocks noGrp="1"/>
          </p:cNvSpPr>
          <p:nvPr>
            <p:ph type="sldNum" sz="quarter" idx="12"/>
          </p:nvPr>
        </p:nvSpPr>
        <p:spPr>
          <a:xfrm>
            <a:off x="10456832" y="6386173"/>
            <a:ext cx="1312025" cy="365125"/>
          </a:xfrm>
        </p:spPr>
        <p:txBody>
          <a:bodyPr/>
          <a:lstStyle/>
          <a:p>
            <a:fld id="{50C91C40-65BD-436B-B794-CF89343271EF}" type="slidenum">
              <a:rPr lang="en-US" sz="2000" smtClean="0"/>
              <a:t>19</a:t>
            </a:fld>
            <a:endParaRPr lang="en-US" sz="2000" dirty="0"/>
          </a:p>
        </p:txBody>
      </p:sp>
      <p:sp>
        <p:nvSpPr>
          <p:cNvPr id="5" name="Footer Placeholder 4">
            <a:extLst>
              <a:ext uri="{FF2B5EF4-FFF2-40B4-BE49-F238E27FC236}">
                <a16:creationId xmlns:a16="http://schemas.microsoft.com/office/drawing/2014/main" id="{5937FD2E-D6FE-AB19-E277-D5BF447A81B8}"/>
              </a:ext>
            </a:extLst>
          </p:cNvPr>
          <p:cNvSpPr>
            <a:spLocks noGrp="1"/>
          </p:cNvSpPr>
          <p:nvPr>
            <p:ph type="ftr" sz="quarter" idx="11"/>
          </p:nvPr>
        </p:nvSpPr>
        <p:spPr>
          <a:xfrm>
            <a:off x="1069431" y="6386173"/>
            <a:ext cx="9136023" cy="356382"/>
          </a:xfrm>
        </p:spPr>
        <p:txBody>
          <a:bodyPr/>
          <a:lstStyle/>
          <a:p>
            <a:pPr algn="l"/>
            <a:r>
              <a:rPr lang="en-US" sz="2000" dirty="0"/>
              <a:t>DEPARTMENT OF COMPUTER SCIENCE AND ENGINEERING</a:t>
            </a:r>
          </a:p>
        </p:txBody>
      </p:sp>
      <p:pic>
        <p:nvPicPr>
          <p:cNvPr id="11" name="Picture 10">
            <a:extLst>
              <a:ext uri="{FF2B5EF4-FFF2-40B4-BE49-F238E27FC236}">
                <a16:creationId xmlns:a16="http://schemas.microsoft.com/office/drawing/2014/main" id="{E5D1C37A-D6A4-3C45-0753-5FD43F0A99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665" y="37033"/>
            <a:ext cx="3470335" cy="689927"/>
          </a:xfrm>
          <a:prstGeom prst="rect">
            <a:avLst/>
          </a:prstGeom>
        </p:spPr>
      </p:pic>
      <p:pic>
        <p:nvPicPr>
          <p:cNvPr id="15" name="Picture 14">
            <a:extLst>
              <a:ext uri="{FF2B5EF4-FFF2-40B4-BE49-F238E27FC236}">
                <a16:creationId xmlns:a16="http://schemas.microsoft.com/office/drawing/2014/main" id="{95EACC11-FF2C-2C36-3CE7-3C40CE83BEF1}"/>
              </a:ext>
            </a:extLst>
          </p:cNvPr>
          <p:cNvPicPr>
            <a:picLocks noChangeAspect="1"/>
          </p:cNvPicPr>
          <p:nvPr/>
        </p:nvPicPr>
        <p:blipFill>
          <a:blip r:embed="rId4"/>
          <a:stretch>
            <a:fillRect/>
          </a:stretch>
        </p:blipFill>
        <p:spPr>
          <a:xfrm>
            <a:off x="0" y="5704366"/>
            <a:ext cx="1153634" cy="1153634"/>
          </a:xfrm>
          <a:prstGeom prst="rect">
            <a:avLst/>
          </a:prstGeom>
        </p:spPr>
      </p:pic>
      <p:sp>
        <p:nvSpPr>
          <p:cNvPr id="3" name="TextBox 2">
            <a:extLst>
              <a:ext uri="{FF2B5EF4-FFF2-40B4-BE49-F238E27FC236}">
                <a16:creationId xmlns:a16="http://schemas.microsoft.com/office/drawing/2014/main" id="{4B26A1A1-B7BE-550C-CAB6-2507FE17EEE5}"/>
              </a:ext>
            </a:extLst>
          </p:cNvPr>
          <p:cNvSpPr txBox="1"/>
          <p:nvPr/>
        </p:nvSpPr>
        <p:spPr>
          <a:xfrm>
            <a:off x="512260" y="1263517"/>
            <a:ext cx="11167480" cy="3222485"/>
          </a:xfrm>
          <a:prstGeom prst="rect">
            <a:avLst/>
          </a:prstGeom>
          <a:noFill/>
        </p:spPr>
        <p:txBody>
          <a:bodyPr wrap="square" rtlCol="0">
            <a:spAutoFit/>
          </a:bodyPr>
          <a:lstStyle/>
          <a:p>
            <a:pPr>
              <a:lnSpc>
                <a:spcPct val="150000"/>
              </a:lnSpc>
            </a:pPr>
            <a:endParaRPr lang="en-IN" sz="1800" dirty="0">
              <a:latin typeface="Times New Roman" panose="02020603050405020304" pitchFamily="18" charset="0"/>
              <a:cs typeface="Times New Roman" panose="02020603050405020304" pitchFamily="18" charset="0"/>
            </a:endParaRPr>
          </a:p>
          <a:p>
            <a:pPr>
              <a:lnSpc>
                <a:spcPct val="150000"/>
              </a:lnSpc>
            </a:pPr>
            <a:r>
              <a:rPr lang="en-US" sz="2000" b="1"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Database Module</a:t>
            </a:r>
          </a:p>
          <a:p>
            <a:pPr marL="342900" indent="-342900" algn="just">
              <a:lnSpc>
                <a:spcPct val="150000"/>
              </a:lnSpc>
              <a:buFont typeface="Wingdings" panose="05000000000000000000" pitchFamily="2" charset="2"/>
              <a:buChar char="v"/>
            </a:pPr>
            <a:r>
              <a:rPr lang="en-US" sz="2000"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Stores application-related information that does not require blockchain storage.</a:t>
            </a:r>
          </a:p>
          <a:p>
            <a:pPr marL="342900" indent="-342900" algn="just">
              <a:lnSpc>
                <a:spcPct val="150000"/>
              </a:lnSpc>
              <a:buFont typeface="Wingdings" panose="05000000000000000000" pitchFamily="2" charset="2"/>
              <a:buChar char="v"/>
            </a:pPr>
            <a:r>
              <a:rPr lang="en-US" sz="2000"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Maintains user details, NFT metadata references, and marketplace records.</a:t>
            </a:r>
          </a:p>
          <a:p>
            <a:pPr marL="342900" indent="-342900" algn="just">
              <a:lnSpc>
                <a:spcPct val="150000"/>
              </a:lnSpc>
              <a:buFont typeface="Wingdings" panose="05000000000000000000" pitchFamily="2" charset="2"/>
              <a:buChar char="v"/>
            </a:pPr>
            <a:r>
              <a:rPr lang="en-US" sz="2000"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Uses off-chain storage to reduce blockchain load and improve system efficiency.</a:t>
            </a:r>
          </a:p>
          <a:p>
            <a:pPr marL="342900" indent="-342900" algn="just">
              <a:lnSpc>
                <a:spcPct val="150000"/>
              </a:lnSpc>
              <a:buFont typeface="Wingdings" panose="05000000000000000000" pitchFamily="2" charset="2"/>
              <a:buChar char="v"/>
            </a:pPr>
            <a:r>
              <a:rPr lang="en-US" sz="2000"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Database Management Systems </a:t>
            </a:r>
            <a:r>
              <a:rPr lang="en-US" sz="200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(Mongo DB) </a:t>
            </a:r>
            <a:r>
              <a:rPr lang="en-US" sz="2000"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handle data storage and retrieval.</a:t>
            </a:r>
          </a:p>
          <a:p>
            <a:pPr marL="342900" indent="-342900" algn="just">
              <a:lnSpc>
                <a:spcPct val="150000"/>
              </a:lnSpc>
              <a:buFont typeface="Wingdings" panose="05000000000000000000" pitchFamily="2" charset="2"/>
              <a:buChar char="v"/>
            </a:pPr>
            <a:r>
              <a:rPr lang="en-US" sz="2000"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Enables fast access to application data while blockchain maintains ownership and transaction records.</a:t>
            </a:r>
          </a:p>
        </p:txBody>
      </p:sp>
    </p:spTree>
    <p:extLst>
      <p:ext uri="{BB962C8B-B14F-4D97-AF65-F5344CB8AC3E}">
        <p14:creationId xmlns:p14="http://schemas.microsoft.com/office/powerpoint/2010/main" val="8303279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E77E0-1CF5-0E9C-D5F4-B82FA72BB42D}"/>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841B597A-3239-8740-5A28-E90654D07141}"/>
              </a:ext>
            </a:extLst>
          </p:cNvPr>
          <p:cNvSpPr>
            <a:spLocks noGrp="1"/>
          </p:cNvSpPr>
          <p:nvPr>
            <p:ph type="sldNum" sz="quarter" idx="12"/>
          </p:nvPr>
        </p:nvSpPr>
        <p:spPr>
          <a:xfrm>
            <a:off x="10456832" y="6386173"/>
            <a:ext cx="1312025" cy="365125"/>
          </a:xfrm>
        </p:spPr>
        <p:txBody>
          <a:bodyPr/>
          <a:lstStyle/>
          <a:p>
            <a:fld id="{50C91C40-65BD-436B-B794-CF89343271EF}" type="slidenum">
              <a:rPr lang="en-US" sz="2000" smtClean="0"/>
              <a:t>20</a:t>
            </a:fld>
            <a:endParaRPr lang="en-US" sz="2000" dirty="0"/>
          </a:p>
        </p:txBody>
      </p:sp>
      <p:sp>
        <p:nvSpPr>
          <p:cNvPr id="5" name="Footer Placeholder 4">
            <a:extLst>
              <a:ext uri="{FF2B5EF4-FFF2-40B4-BE49-F238E27FC236}">
                <a16:creationId xmlns:a16="http://schemas.microsoft.com/office/drawing/2014/main" id="{FA86DF9B-7684-1518-6B51-6AD7B39CA9B0}"/>
              </a:ext>
            </a:extLst>
          </p:cNvPr>
          <p:cNvSpPr>
            <a:spLocks noGrp="1"/>
          </p:cNvSpPr>
          <p:nvPr>
            <p:ph type="ftr" sz="quarter" idx="11"/>
          </p:nvPr>
        </p:nvSpPr>
        <p:spPr>
          <a:xfrm>
            <a:off x="1069431" y="6386173"/>
            <a:ext cx="9136023" cy="356382"/>
          </a:xfrm>
        </p:spPr>
        <p:txBody>
          <a:bodyPr/>
          <a:lstStyle/>
          <a:p>
            <a:pPr algn="l"/>
            <a:r>
              <a:rPr lang="en-US" sz="2000" dirty="0"/>
              <a:t>DEPARTMENT OF COMPUTER SCIENCE AND ENGINEERING</a:t>
            </a:r>
          </a:p>
        </p:txBody>
      </p:sp>
      <p:pic>
        <p:nvPicPr>
          <p:cNvPr id="11" name="Picture 10">
            <a:extLst>
              <a:ext uri="{FF2B5EF4-FFF2-40B4-BE49-F238E27FC236}">
                <a16:creationId xmlns:a16="http://schemas.microsoft.com/office/drawing/2014/main" id="{669E932B-D606-202D-1B0D-D1BB9A911A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665" y="37033"/>
            <a:ext cx="3470335" cy="689927"/>
          </a:xfrm>
          <a:prstGeom prst="rect">
            <a:avLst/>
          </a:prstGeom>
        </p:spPr>
      </p:pic>
      <p:pic>
        <p:nvPicPr>
          <p:cNvPr id="15" name="Picture 14">
            <a:extLst>
              <a:ext uri="{FF2B5EF4-FFF2-40B4-BE49-F238E27FC236}">
                <a16:creationId xmlns:a16="http://schemas.microsoft.com/office/drawing/2014/main" id="{A108B032-9101-2401-264F-8A446EB0E00B}"/>
              </a:ext>
            </a:extLst>
          </p:cNvPr>
          <p:cNvPicPr>
            <a:picLocks noChangeAspect="1"/>
          </p:cNvPicPr>
          <p:nvPr/>
        </p:nvPicPr>
        <p:blipFill>
          <a:blip r:embed="rId4"/>
          <a:stretch>
            <a:fillRect/>
          </a:stretch>
        </p:blipFill>
        <p:spPr>
          <a:xfrm>
            <a:off x="0" y="5704366"/>
            <a:ext cx="1153634" cy="1153634"/>
          </a:xfrm>
          <a:prstGeom prst="rect">
            <a:avLst/>
          </a:prstGeom>
        </p:spPr>
      </p:pic>
      <p:sp>
        <p:nvSpPr>
          <p:cNvPr id="3" name="TextBox 2">
            <a:extLst>
              <a:ext uri="{FF2B5EF4-FFF2-40B4-BE49-F238E27FC236}">
                <a16:creationId xmlns:a16="http://schemas.microsoft.com/office/drawing/2014/main" id="{9B49D9B3-1422-76F1-4C9A-8C511C411E20}"/>
              </a:ext>
            </a:extLst>
          </p:cNvPr>
          <p:cNvSpPr txBox="1"/>
          <p:nvPr/>
        </p:nvSpPr>
        <p:spPr>
          <a:xfrm>
            <a:off x="731295" y="0"/>
            <a:ext cx="11369921" cy="1837491"/>
          </a:xfrm>
          <a:prstGeom prst="rect">
            <a:avLst/>
          </a:prstGeom>
          <a:noFill/>
        </p:spPr>
        <p:txBody>
          <a:bodyPr wrap="square" rtlCol="0">
            <a:spAutoFit/>
          </a:bodyPr>
          <a:lstStyle/>
          <a:p>
            <a:pPr>
              <a:lnSpc>
                <a:spcPct val="150000"/>
              </a:lnSpc>
            </a:pPr>
            <a:endParaRPr lang="en-IN" sz="1800" dirty="0">
              <a:latin typeface="Times New Roman" panose="02020603050405020304" pitchFamily="18" charset="0"/>
              <a:cs typeface="Times New Roman" panose="02020603050405020304" pitchFamily="18" charset="0"/>
            </a:endParaRPr>
          </a:p>
          <a:p>
            <a:pPr>
              <a:lnSpc>
                <a:spcPct val="150000"/>
              </a:lnSpc>
            </a:pPr>
            <a:r>
              <a:rPr lang="en-US" sz="2000" b="1"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Implementation:</a:t>
            </a:r>
          </a:p>
          <a:p>
            <a:pPr>
              <a:lnSpc>
                <a:spcPct val="150000"/>
              </a:lnSpc>
            </a:pPr>
            <a:endParaRPr lang="en-US" sz="2000" b="1"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a:lnSpc>
                <a:spcPct val="150000"/>
              </a:lnSpc>
            </a:pPr>
            <a:endParaRPr lang="en-US" sz="2000"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pic>
        <p:nvPicPr>
          <p:cNvPr id="4" name="Picture 3">
            <a:extLst>
              <a:ext uri="{FF2B5EF4-FFF2-40B4-BE49-F238E27FC236}">
                <a16:creationId xmlns:a16="http://schemas.microsoft.com/office/drawing/2014/main" id="{BEA25F30-2CBC-43B0-FD8D-FC39D91CADDF}"/>
              </a:ext>
            </a:extLst>
          </p:cNvPr>
          <p:cNvPicPr>
            <a:picLocks noChangeAspect="1"/>
          </p:cNvPicPr>
          <p:nvPr/>
        </p:nvPicPr>
        <p:blipFill>
          <a:blip r:embed="rId5"/>
          <a:stretch>
            <a:fillRect/>
          </a:stretch>
        </p:blipFill>
        <p:spPr>
          <a:xfrm>
            <a:off x="1689905" y="918521"/>
            <a:ext cx="4502551" cy="5410894"/>
          </a:xfrm>
          <a:prstGeom prst="rect">
            <a:avLst/>
          </a:prstGeom>
        </p:spPr>
      </p:pic>
      <p:pic>
        <p:nvPicPr>
          <p:cNvPr id="10" name="Picture 9">
            <a:extLst>
              <a:ext uri="{FF2B5EF4-FFF2-40B4-BE49-F238E27FC236}">
                <a16:creationId xmlns:a16="http://schemas.microsoft.com/office/drawing/2014/main" id="{2A9D685A-92C5-D976-CAAE-7075F004489E}"/>
              </a:ext>
            </a:extLst>
          </p:cNvPr>
          <p:cNvPicPr>
            <a:picLocks noChangeAspect="1"/>
          </p:cNvPicPr>
          <p:nvPr/>
        </p:nvPicPr>
        <p:blipFill>
          <a:blip r:embed="rId6"/>
          <a:stretch>
            <a:fillRect/>
          </a:stretch>
        </p:blipFill>
        <p:spPr>
          <a:xfrm>
            <a:off x="6007462" y="808242"/>
            <a:ext cx="4097238" cy="5373658"/>
          </a:xfrm>
          <a:prstGeom prst="rect">
            <a:avLst/>
          </a:prstGeom>
        </p:spPr>
      </p:pic>
    </p:spTree>
    <p:extLst>
      <p:ext uri="{BB962C8B-B14F-4D97-AF65-F5344CB8AC3E}">
        <p14:creationId xmlns:p14="http://schemas.microsoft.com/office/powerpoint/2010/main" val="35237286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30672-B3FF-9342-01C2-F16EDE2C950B}"/>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20FB4074-C55A-2B1A-8736-151DDDC16373}"/>
              </a:ext>
            </a:extLst>
          </p:cNvPr>
          <p:cNvSpPr>
            <a:spLocks noGrp="1"/>
          </p:cNvSpPr>
          <p:nvPr>
            <p:ph type="sldNum" sz="quarter" idx="12"/>
          </p:nvPr>
        </p:nvSpPr>
        <p:spPr>
          <a:xfrm>
            <a:off x="10456832" y="6386173"/>
            <a:ext cx="1312025" cy="365125"/>
          </a:xfrm>
        </p:spPr>
        <p:txBody>
          <a:bodyPr/>
          <a:lstStyle/>
          <a:p>
            <a:fld id="{50C91C40-65BD-436B-B794-CF89343271EF}" type="slidenum">
              <a:rPr lang="en-US" sz="2000" smtClean="0"/>
              <a:t>21</a:t>
            </a:fld>
            <a:endParaRPr lang="en-US" sz="2000" dirty="0"/>
          </a:p>
        </p:txBody>
      </p:sp>
      <p:sp>
        <p:nvSpPr>
          <p:cNvPr id="5" name="Footer Placeholder 4">
            <a:extLst>
              <a:ext uri="{FF2B5EF4-FFF2-40B4-BE49-F238E27FC236}">
                <a16:creationId xmlns:a16="http://schemas.microsoft.com/office/drawing/2014/main" id="{92400F9A-FF4C-F0C5-F25C-14515053AE7C}"/>
              </a:ext>
            </a:extLst>
          </p:cNvPr>
          <p:cNvSpPr>
            <a:spLocks noGrp="1"/>
          </p:cNvSpPr>
          <p:nvPr>
            <p:ph type="ftr" sz="quarter" idx="11"/>
          </p:nvPr>
        </p:nvSpPr>
        <p:spPr>
          <a:xfrm>
            <a:off x="1069431" y="6386173"/>
            <a:ext cx="9136023" cy="356382"/>
          </a:xfrm>
        </p:spPr>
        <p:txBody>
          <a:bodyPr/>
          <a:lstStyle/>
          <a:p>
            <a:pPr algn="l"/>
            <a:r>
              <a:rPr lang="en-US" sz="2000" dirty="0"/>
              <a:t>DEPARTMENT OF COMPUTER SCIENCE AND ENGINEERING</a:t>
            </a:r>
          </a:p>
        </p:txBody>
      </p:sp>
      <p:pic>
        <p:nvPicPr>
          <p:cNvPr id="11" name="Picture 10">
            <a:extLst>
              <a:ext uri="{FF2B5EF4-FFF2-40B4-BE49-F238E27FC236}">
                <a16:creationId xmlns:a16="http://schemas.microsoft.com/office/drawing/2014/main" id="{473B5FA6-0CFF-757F-F6ED-D3D41930BD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665" y="37033"/>
            <a:ext cx="3470335" cy="689927"/>
          </a:xfrm>
          <a:prstGeom prst="rect">
            <a:avLst/>
          </a:prstGeom>
        </p:spPr>
      </p:pic>
      <p:pic>
        <p:nvPicPr>
          <p:cNvPr id="15" name="Picture 14">
            <a:extLst>
              <a:ext uri="{FF2B5EF4-FFF2-40B4-BE49-F238E27FC236}">
                <a16:creationId xmlns:a16="http://schemas.microsoft.com/office/drawing/2014/main" id="{F6A02E02-AB5E-B3EE-A94D-BBE0D982F172}"/>
              </a:ext>
            </a:extLst>
          </p:cNvPr>
          <p:cNvPicPr>
            <a:picLocks noChangeAspect="1"/>
          </p:cNvPicPr>
          <p:nvPr/>
        </p:nvPicPr>
        <p:blipFill>
          <a:blip r:embed="rId4"/>
          <a:stretch>
            <a:fillRect/>
          </a:stretch>
        </p:blipFill>
        <p:spPr>
          <a:xfrm>
            <a:off x="0" y="5704366"/>
            <a:ext cx="1153634" cy="1153634"/>
          </a:xfrm>
          <a:prstGeom prst="rect">
            <a:avLst/>
          </a:prstGeom>
        </p:spPr>
      </p:pic>
      <p:pic>
        <p:nvPicPr>
          <p:cNvPr id="7" name="Picture 6">
            <a:extLst>
              <a:ext uri="{FF2B5EF4-FFF2-40B4-BE49-F238E27FC236}">
                <a16:creationId xmlns:a16="http://schemas.microsoft.com/office/drawing/2014/main" id="{E17E9B8E-6660-4EA4-D639-D3A3D13E9859}"/>
              </a:ext>
            </a:extLst>
          </p:cNvPr>
          <p:cNvPicPr>
            <a:picLocks noChangeAspect="1"/>
          </p:cNvPicPr>
          <p:nvPr/>
        </p:nvPicPr>
        <p:blipFill>
          <a:blip r:embed="rId5"/>
          <a:stretch>
            <a:fillRect/>
          </a:stretch>
        </p:blipFill>
        <p:spPr>
          <a:xfrm>
            <a:off x="6505261" y="1067864"/>
            <a:ext cx="3606241" cy="4522707"/>
          </a:xfrm>
          <a:prstGeom prst="rect">
            <a:avLst/>
          </a:prstGeom>
        </p:spPr>
      </p:pic>
      <p:pic>
        <p:nvPicPr>
          <p:cNvPr id="9" name="Picture 8">
            <a:extLst>
              <a:ext uri="{FF2B5EF4-FFF2-40B4-BE49-F238E27FC236}">
                <a16:creationId xmlns:a16="http://schemas.microsoft.com/office/drawing/2014/main" id="{6DE29C28-EA82-6415-9F1A-1B030E0E8390}"/>
              </a:ext>
            </a:extLst>
          </p:cNvPr>
          <p:cNvPicPr>
            <a:picLocks noChangeAspect="1"/>
          </p:cNvPicPr>
          <p:nvPr/>
        </p:nvPicPr>
        <p:blipFill>
          <a:blip r:embed="rId6"/>
          <a:stretch>
            <a:fillRect/>
          </a:stretch>
        </p:blipFill>
        <p:spPr>
          <a:xfrm>
            <a:off x="1153634" y="559788"/>
            <a:ext cx="4197993" cy="5505801"/>
          </a:xfrm>
          <a:prstGeom prst="rect">
            <a:avLst/>
          </a:prstGeom>
        </p:spPr>
      </p:pic>
    </p:spTree>
    <p:extLst>
      <p:ext uri="{BB962C8B-B14F-4D97-AF65-F5344CB8AC3E}">
        <p14:creationId xmlns:p14="http://schemas.microsoft.com/office/powerpoint/2010/main" val="40519564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1BCE1-4854-8FE6-BAE9-80111FDC704C}"/>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F9B5E615-F0FF-BC21-5D8D-3099FEE6EA4F}"/>
              </a:ext>
            </a:extLst>
          </p:cNvPr>
          <p:cNvSpPr>
            <a:spLocks noGrp="1"/>
          </p:cNvSpPr>
          <p:nvPr>
            <p:ph type="sldNum" sz="quarter" idx="12"/>
          </p:nvPr>
        </p:nvSpPr>
        <p:spPr>
          <a:xfrm>
            <a:off x="10456832" y="6386173"/>
            <a:ext cx="1312025" cy="365125"/>
          </a:xfrm>
        </p:spPr>
        <p:txBody>
          <a:bodyPr/>
          <a:lstStyle/>
          <a:p>
            <a:fld id="{50C91C40-65BD-436B-B794-CF89343271EF}" type="slidenum">
              <a:rPr lang="en-US" sz="2000" smtClean="0"/>
              <a:t>22</a:t>
            </a:fld>
            <a:endParaRPr lang="en-US" sz="2000" dirty="0"/>
          </a:p>
        </p:txBody>
      </p:sp>
      <p:sp>
        <p:nvSpPr>
          <p:cNvPr id="5" name="Footer Placeholder 4">
            <a:extLst>
              <a:ext uri="{FF2B5EF4-FFF2-40B4-BE49-F238E27FC236}">
                <a16:creationId xmlns:a16="http://schemas.microsoft.com/office/drawing/2014/main" id="{BAE77E76-A1F4-0D1B-CE2D-CFC407D159DC}"/>
              </a:ext>
            </a:extLst>
          </p:cNvPr>
          <p:cNvSpPr>
            <a:spLocks noGrp="1"/>
          </p:cNvSpPr>
          <p:nvPr>
            <p:ph type="ftr" sz="quarter" idx="11"/>
          </p:nvPr>
        </p:nvSpPr>
        <p:spPr>
          <a:xfrm>
            <a:off x="1069431" y="6386173"/>
            <a:ext cx="9136023" cy="356382"/>
          </a:xfrm>
        </p:spPr>
        <p:txBody>
          <a:bodyPr/>
          <a:lstStyle/>
          <a:p>
            <a:pPr algn="l"/>
            <a:r>
              <a:rPr lang="en-US" sz="2000" dirty="0"/>
              <a:t>DEPARTMENT OF COMPUTER SCIENCE AND ENGINEERING</a:t>
            </a:r>
          </a:p>
        </p:txBody>
      </p:sp>
      <p:pic>
        <p:nvPicPr>
          <p:cNvPr id="11" name="Picture 10">
            <a:extLst>
              <a:ext uri="{FF2B5EF4-FFF2-40B4-BE49-F238E27FC236}">
                <a16:creationId xmlns:a16="http://schemas.microsoft.com/office/drawing/2014/main" id="{71CF2C97-0CA7-A49C-1029-D63A5D55B8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665" y="37033"/>
            <a:ext cx="3470335" cy="689927"/>
          </a:xfrm>
          <a:prstGeom prst="rect">
            <a:avLst/>
          </a:prstGeom>
        </p:spPr>
      </p:pic>
      <p:pic>
        <p:nvPicPr>
          <p:cNvPr id="15" name="Picture 14">
            <a:extLst>
              <a:ext uri="{FF2B5EF4-FFF2-40B4-BE49-F238E27FC236}">
                <a16:creationId xmlns:a16="http://schemas.microsoft.com/office/drawing/2014/main" id="{881FDD5B-8953-C937-158C-92A134B753B3}"/>
              </a:ext>
            </a:extLst>
          </p:cNvPr>
          <p:cNvPicPr>
            <a:picLocks noChangeAspect="1"/>
          </p:cNvPicPr>
          <p:nvPr/>
        </p:nvPicPr>
        <p:blipFill>
          <a:blip r:embed="rId4"/>
          <a:stretch>
            <a:fillRect/>
          </a:stretch>
        </p:blipFill>
        <p:spPr>
          <a:xfrm>
            <a:off x="0" y="5704366"/>
            <a:ext cx="1153634" cy="1153634"/>
          </a:xfrm>
          <a:prstGeom prst="rect">
            <a:avLst/>
          </a:prstGeom>
        </p:spPr>
      </p:pic>
      <p:sp>
        <p:nvSpPr>
          <p:cNvPr id="3" name="TextBox 2">
            <a:extLst>
              <a:ext uri="{FF2B5EF4-FFF2-40B4-BE49-F238E27FC236}">
                <a16:creationId xmlns:a16="http://schemas.microsoft.com/office/drawing/2014/main" id="{8109B153-B0FE-1477-DC9F-8CDCBA04D575}"/>
              </a:ext>
            </a:extLst>
          </p:cNvPr>
          <p:cNvSpPr txBox="1"/>
          <p:nvPr/>
        </p:nvSpPr>
        <p:spPr>
          <a:xfrm>
            <a:off x="754445" y="0"/>
            <a:ext cx="11369921" cy="2299156"/>
          </a:xfrm>
          <a:prstGeom prst="rect">
            <a:avLst/>
          </a:prstGeom>
          <a:noFill/>
        </p:spPr>
        <p:txBody>
          <a:bodyPr wrap="square" rtlCol="0">
            <a:spAutoFit/>
          </a:bodyPr>
          <a:lstStyle/>
          <a:p>
            <a:pPr>
              <a:lnSpc>
                <a:spcPct val="150000"/>
              </a:lnSpc>
            </a:pPr>
            <a:endParaRPr lang="en-IN" sz="1800" dirty="0">
              <a:latin typeface="Times New Roman" panose="02020603050405020304" pitchFamily="18" charset="0"/>
              <a:cs typeface="Times New Roman" panose="02020603050405020304" pitchFamily="18" charset="0"/>
            </a:endParaRPr>
          </a:p>
          <a:p>
            <a:pPr>
              <a:lnSpc>
                <a:spcPct val="150000"/>
              </a:lnSpc>
            </a:pPr>
            <a:r>
              <a:rPr lang="en-US" sz="2000" b="1"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Result :</a:t>
            </a:r>
          </a:p>
          <a:p>
            <a:pPr>
              <a:lnSpc>
                <a:spcPct val="150000"/>
              </a:lnSpc>
            </a:pPr>
            <a:endParaRPr lang="en-US" sz="2000" b="1"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a:lnSpc>
                <a:spcPct val="150000"/>
              </a:lnSpc>
            </a:pPr>
            <a:endParaRPr lang="en-US" sz="2000" b="1"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a:lnSpc>
                <a:spcPct val="150000"/>
              </a:lnSpc>
            </a:pPr>
            <a:endParaRPr lang="en-US" sz="2000"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pic>
        <p:nvPicPr>
          <p:cNvPr id="6" name="Picture 5">
            <a:extLst>
              <a:ext uri="{FF2B5EF4-FFF2-40B4-BE49-F238E27FC236}">
                <a16:creationId xmlns:a16="http://schemas.microsoft.com/office/drawing/2014/main" id="{D811B478-BD06-5955-254F-9AD941F1A08A}"/>
              </a:ext>
            </a:extLst>
          </p:cNvPr>
          <p:cNvPicPr>
            <a:picLocks noChangeAspect="1"/>
          </p:cNvPicPr>
          <p:nvPr/>
        </p:nvPicPr>
        <p:blipFill>
          <a:blip r:embed="rId5"/>
          <a:stretch>
            <a:fillRect/>
          </a:stretch>
        </p:blipFill>
        <p:spPr>
          <a:xfrm>
            <a:off x="2096005" y="921694"/>
            <a:ext cx="8686800" cy="5284373"/>
          </a:xfrm>
          <a:prstGeom prst="rect">
            <a:avLst/>
          </a:prstGeom>
        </p:spPr>
      </p:pic>
    </p:spTree>
    <p:extLst>
      <p:ext uri="{BB962C8B-B14F-4D97-AF65-F5344CB8AC3E}">
        <p14:creationId xmlns:p14="http://schemas.microsoft.com/office/powerpoint/2010/main" val="18788717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6F2DA-E784-4251-4DA3-1E27FD47F8A2}"/>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26615A7D-1358-FE8D-6FAD-7D286C9DB95A}"/>
              </a:ext>
            </a:extLst>
          </p:cNvPr>
          <p:cNvSpPr>
            <a:spLocks noGrp="1"/>
          </p:cNvSpPr>
          <p:nvPr>
            <p:ph type="sldNum" sz="quarter" idx="12"/>
          </p:nvPr>
        </p:nvSpPr>
        <p:spPr>
          <a:xfrm>
            <a:off x="10456832" y="6386173"/>
            <a:ext cx="1312025" cy="365125"/>
          </a:xfrm>
        </p:spPr>
        <p:txBody>
          <a:bodyPr/>
          <a:lstStyle/>
          <a:p>
            <a:fld id="{50C91C40-65BD-436B-B794-CF89343271EF}" type="slidenum">
              <a:rPr lang="en-US" sz="2000" smtClean="0"/>
              <a:t>23</a:t>
            </a:fld>
            <a:endParaRPr lang="en-US" sz="2000" dirty="0"/>
          </a:p>
        </p:txBody>
      </p:sp>
      <p:sp>
        <p:nvSpPr>
          <p:cNvPr id="5" name="Footer Placeholder 4">
            <a:extLst>
              <a:ext uri="{FF2B5EF4-FFF2-40B4-BE49-F238E27FC236}">
                <a16:creationId xmlns:a16="http://schemas.microsoft.com/office/drawing/2014/main" id="{36AD45CE-CC4A-CD9F-A8DD-C02D8E98E194}"/>
              </a:ext>
            </a:extLst>
          </p:cNvPr>
          <p:cNvSpPr>
            <a:spLocks noGrp="1"/>
          </p:cNvSpPr>
          <p:nvPr>
            <p:ph type="ftr" sz="quarter" idx="11"/>
          </p:nvPr>
        </p:nvSpPr>
        <p:spPr>
          <a:xfrm>
            <a:off x="1069431" y="6386173"/>
            <a:ext cx="9136023" cy="356382"/>
          </a:xfrm>
        </p:spPr>
        <p:txBody>
          <a:bodyPr/>
          <a:lstStyle/>
          <a:p>
            <a:pPr algn="l"/>
            <a:r>
              <a:rPr lang="en-US" sz="2000" dirty="0"/>
              <a:t>DEPARTMENT OF COMPUTER SCIENCE AND ENGINEERING</a:t>
            </a:r>
          </a:p>
        </p:txBody>
      </p:sp>
      <p:pic>
        <p:nvPicPr>
          <p:cNvPr id="11" name="Picture 10">
            <a:extLst>
              <a:ext uri="{FF2B5EF4-FFF2-40B4-BE49-F238E27FC236}">
                <a16:creationId xmlns:a16="http://schemas.microsoft.com/office/drawing/2014/main" id="{7631A922-7CC5-57B2-04CC-D8896D2C75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665" y="37033"/>
            <a:ext cx="3470335" cy="689927"/>
          </a:xfrm>
          <a:prstGeom prst="rect">
            <a:avLst/>
          </a:prstGeom>
        </p:spPr>
      </p:pic>
      <p:pic>
        <p:nvPicPr>
          <p:cNvPr id="15" name="Picture 14">
            <a:extLst>
              <a:ext uri="{FF2B5EF4-FFF2-40B4-BE49-F238E27FC236}">
                <a16:creationId xmlns:a16="http://schemas.microsoft.com/office/drawing/2014/main" id="{5E79FC68-48BB-D686-798C-1E79F0EA6AA1}"/>
              </a:ext>
            </a:extLst>
          </p:cNvPr>
          <p:cNvPicPr>
            <a:picLocks noChangeAspect="1"/>
          </p:cNvPicPr>
          <p:nvPr/>
        </p:nvPicPr>
        <p:blipFill>
          <a:blip r:embed="rId4"/>
          <a:stretch>
            <a:fillRect/>
          </a:stretch>
        </p:blipFill>
        <p:spPr>
          <a:xfrm>
            <a:off x="0" y="5704366"/>
            <a:ext cx="1153634" cy="1153634"/>
          </a:xfrm>
          <a:prstGeom prst="rect">
            <a:avLst/>
          </a:prstGeom>
        </p:spPr>
      </p:pic>
      <p:sp>
        <p:nvSpPr>
          <p:cNvPr id="3" name="TextBox 2">
            <a:extLst>
              <a:ext uri="{FF2B5EF4-FFF2-40B4-BE49-F238E27FC236}">
                <a16:creationId xmlns:a16="http://schemas.microsoft.com/office/drawing/2014/main" id="{A863D294-CEB2-EB4C-758F-72FFB614AB6C}"/>
              </a:ext>
            </a:extLst>
          </p:cNvPr>
          <p:cNvSpPr txBox="1"/>
          <p:nvPr/>
        </p:nvSpPr>
        <p:spPr>
          <a:xfrm>
            <a:off x="153415" y="716037"/>
            <a:ext cx="11885169" cy="498663"/>
          </a:xfrm>
          <a:prstGeom prst="rect">
            <a:avLst/>
          </a:prstGeom>
          <a:noFill/>
        </p:spPr>
        <p:txBody>
          <a:bodyPr wrap="square" rtlCol="0">
            <a:spAutoFit/>
          </a:bodyPr>
          <a:lstStyle/>
          <a:p>
            <a:pPr marR="0" lvl="0" algn="l" rtl="0">
              <a:lnSpc>
                <a:spcPct val="150000"/>
              </a:lnSpc>
              <a:spcBef>
                <a:spcPts val="0"/>
              </a:spcBef>
              <a:spcAft>
                <a:spcPts val="0"/>
              </a:spcAft>
              <a:buClr>
                <a:srgbClr val="FF0000"/>
              </a:buClr>
            </a:pPr>
            <a:r>
              <a:rPr lang="en-US" altLang="en-US" sz="2000" dirty="0">
                <a:solidFill>
                  <a:schemeClr val="tx1"/>
                </a:solidFill>
                <a:latin typeface="Times New Roman" panose="02020603050405020304" pitchFamily="18" charset="0"/>
                <a:cs typeface="Times New Roman" panose="02020603050405020304" pitchFamily="18" charset="0"/>
              </a:rPr>
              <a:t>.</a:t>
            </a:r>
            <a:endParaRPr lang="en-US" sz="24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pic>
        <p:nvPicPr>
          <p:cNvPr id="6" name="Picture 5">
            <a:extLst>
              <a:ext uri="{FF2B5EF4-FFF2-40B4-BE49-F238E27FC236}">
                <a16:creationId xmlns:a16="http://schemas.microsoft.com/office/drawing/2014/main" id="{DC479D6D-E3AE-4AF0-8FC6-04021D431294}"/>
              </a:ext>
            </a:extLst>
          </p:cNvPr>
          <p:cNvPicPr>
            <a:picLocks noChangeAspect="1"/>
          </p:cNvPicPr>
          <p:nvPr/>
        </p:nvPicPr>
        <p:blipFill>
          <a:blip r:embed="rId5"/>
          <a:stretch>
            <a:fillRect/>
          </a:stretch>
        </p:blipFill>
        <p:spPr>
          <a:xfrm>
            <a:off x="1128838" y="844611"/>
            <a:ext cx="10560707" cy="5200589"/>
          </a:xfrm>
          <a:prstGeom prst="rect">
            <a:avLst/>
          </a:prstGeom>
        </p:spPr>
      </p:pic>
    </p:spTree>
    <p:extLst>
      <p:ext uri="{BB962C8B-B14F-4D97-AF65-F5344CB8AC3E}">
        <p14:creationId xmlns:p14="http://schemas.microsoft.com/office/powerpoint/2010/main" val="1463181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7D04D-FB72-0715-667E-0E5370D53AB7}"/>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B89AAAB1-2D87-AEB4-D43E-9D54842B12FE}"/>
              </a:ext>
            </a:extLst>
          </p:cNvPr>
          <p:cNvSpPr>
            <a:spLocks noGrp="1"/>
          </p:cNvSpPr>
          <p:nvPr>
            <p:ph type="sldNum" sz="quarter" idx="12"/>
          </p:nvPr>
        </p:nvSpPr>
        <p:spPr>
          <a:xfrm>
            <a:off x="10456832" y="6386173"/>
            <a:ext cx="1312025" cy="365125"/>
          </a:xfrm>
        </p:spPr>
        <p:txBody>
          <a:bodyPr/>
          <a:lstStyle/>
          <a:p>
            <a:fld id="{50C91C40-65BD-436B-B794-CF89343271EF}" type="slidenum">
              <a:rPr lang="en-US" sz="2000" smtClean="0"/>
              <a:t>24</a:t>
            </a:fld>
            <a:endParaRPr lang="en-US" sz="2000" dirty="0"/>
          </a:p>
        </p:txBody>
      </p:sp>
      <p:sp>
        <p:nvSpPr>
          <p:cNvPr id="5" name="Footer Placeholder 4">
            <a:extLst>
              <a:ext uri="{FF2B5EF4-FFF2-40B4-BE49-F238E27FC236}">
                <a16:creationId xmlns:a16="http://schemas.microsoft.com/office/drawing/2014/main" id="{9C89E13E-DC79-4D85-56B1-8F032F8A8E97}"/>
              </a:ext>
            </a:extLst>
          </p:cNvPr>
          <p:cNvSpPr>
            <a:spLocks noGrp="1"/>
          </p:cNvSpPr>
          <p:nvPr>
            <p:ph type="ftr" sz="quarter" idx="11"/>
          </p:nvPr>
        </p:nvSpPr>
        <p:spPr>
          <a:xfrm>
            <a:off x="1069431" y="6386173"/>
            <a:ext cx="9136023" cy="356382"/>
          </a:xfrm>
        </p:spPr>
        <p:txBody>
          <a:bodyPr/>
          <a:lstStyle/>
          <a:p>
            <a:pPr algn="l"/>
            <a:r>
              <a:rPr lang="en-US" sz="2000" dirty="0"/>
              <a:t>DEPARTMENT OF COMPUTER SCIENCE AND ENGINEERING</a:t>
            </a:r>
          </a:p>
        </p:txBody>
      </p:sp>
      <p:pic>
        <p:nvPicPr>
          <p:cNvPr id="11" name="Picture 10">
            <a:extLst>
              <a:ext uri="{FF2B5EF4-FFF2-40B4-BE49-F238E27FC236}">
                <a16:creationId xmlns:a16="http://schemas.microsoft.com/office/drawing/2014/main" id="{38C9A70E-B361-131A-A1FF-B844BB02BE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665" y="37033"/>
            <a:ext cx="3470335" cy="689927"/>
          </a:xfrm>
          <a:prstGeom prst="rect">
            <a:avLst/>
          </a:prstGeom>
        </p:spPr>
      </p:pic>
      <p:pic>
        <p:nvPicPr>
          <p:cNvPr id="15" name="Picture 14">
            <a:extLst>
              <a:ext uri="{FF2B5EF4-FFF2-40B4-BE49-F238E27FC236}">
                <a16:creationId xmlns:a16="http://schemas.microsoft.com/office/drawing/2014/main" id="{7C6C4168-693C-83A4-3E90-618CDCAF86F0}"/>
              </a:ext>
            </a:extLst>
          </p:cNvPr>
          <p:cNvPicPr>
            <a:picLocks noChangeAspect="1"/>
          </p:cNvPicPr>
          <p:nvPr/>
        </p:nvPicPr>
        <p:blipFill>
          <a:blip r:embed="rId4"/>
          <a:stretch>
            <a:fillRect/>
          </a:stretch>
        </p:blipFill>
        <p:spPr>
          <a:xfrm>
            <a:off x="0" y="5704366"/>
            <a:ext cx="1153634" cy="1153634"/>
          </a:xfrm>
          <a:prstGeom prst="rect">
            <a:avLst/>
          </a:prstGeom>
        </p:spPr>
      </p:pic>
      <p:pic>
        <p:nvPicPr>
          <p:cNvPr id="6" name="Picture 5">
            <a:extLst>
              <a:ext uri="{FF2B5EF4-FFF2-40B4-BE49-F238E27FC236}">
                <a16:creationId xmlns:a16="http://schemas.microsoft.com/office/drawing/2014/main" id="{EDAA12EB-E69E-E479-0C20-4764184836FB}"/>
              </a:ext>
            </a:extLst>
          </p:cNvPr>
          <p:cNvPicPr>
            <a:picLocks noChangeAspect="1"/>
          </p:cNvPicPr>
          <p:nvPr/>
        </p:nvPicPr>
        <p:blipFill>
          <a:blip r:embed="rId5"/>
          <a:stretch>
            <a:fillRect/>
          </a:stretch>
        </p:blipFill>
        <p:spPr>
          <a:xfrm>
            <a:off x="1153634" y="880533"/>
            <a:ext cx="10234033" cy="5142357"/>
          </a:xfrm>
          <a:prstGeom prst="rect">
            <a:avLst/>
          </a:prstGeom>
        </p:spPr>
      </p:pic>
    </p:spTree>
    <p:extLst>
      <p:ext uri="{BB962C8B-B14F-4D97-AF65-F5344CB8AC3E}">
        <p14:creationId xmlns:p14="http://schemas.microsoft.com/office/powerpoint/2010/main" val="13288878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FC0B2-C040-A316-E028-79705DC15601}"/>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EE1C7A7B-82AF-3D0E-4805-386A805A6AD9}"/>
              </a:ext>
            </a:extLst>
          </p:cNvPr>
          <p:cNvSpPr>
            <a:spLocks noGrp="1"/>
          </p:cNvSpPr>
          <p:nvPr>
            <p:ph type="sldNum" sz="quarter" idx="12"/>
          </p:nvPr>
        </p:nvSpPr>
        <p:spPr>
          <a:xfrm>
            <a:off x="10456832" y="6386173"/>
            <a:ext cx="1312025" cy="365125"/>
          </a:xfrm>
        </p:spPr>
        <p:txBody>
          <a:bodyPr/>
          <a:lstStyle/>
          <a:p>
            <a:fld id="{50C91C40-65BD-436B-B794-CF89343271EF}" type="slidenum">
              <a:rPr lang="en-US" sz="2000" smtClean="0"/>
              <a:t>25</a:t>
            </a:fld>
            <a:endParaRPr lang="en-US" sz="2000" dirty="0"/>
          </a:p>
        </p:txBody>
      </p:sp>
      <p:sp>
        <p:nvSpPr>
          <p:cNvPr id="5" name="Footer Placeholder 4">
            <a:extLst>
              <a:ext uri="{FF2B5EF4-FFF2-40B4-BE49-F238E27FC236}">
                <a16:creationId xmlns:a16="http://schemas.microsoft.com/office/drawing/2014/main" id="{A4E7EAEC-7524-2917-4220-356F93FD0220}"/>
              </a:ext>
            </a:extLst>
          </p:cNvPr>
          <p:cNvSpPr>
            <a:spLocks noGrp="1"/>
          </p:cNvSpPr>
          <p:nvPr>
            <p:ph type="ftr" sz="quarter" idx="11"/>
          </p:nvPr>
        </p:nvSpPr>
        <p:spPr>
          <a:xfrm>
            <a:off x="1069431" y="6386173"/>
            <a:ext cx="9136023" cy="356382"/>
          </a:xfrm>
        </p:spPr>
        <p:txBody>
          <a:bodyPr/>
          <a:lstStyle/>
          <a:p>
            <a:pPr algn="l"/>
            <a:r>
              <a:rPr lang="en-US" sz="2000" dirty="0"/>
              <a:t>DEPARTMENT OF COMPUTER SCIENCE AND ENGINEERING</a:t>
            </a:r>
          </a:p>
        </p:txBody>
      </p:sp>
      <p:pic>
        <p:nvPicPr>
          <p:cNvPr id="11" name="Picture 10">
            <a:extLst>
              <a:ext uri="{FF2B5EF4-FFF2-40B4-BE49-F238E27FC236}">
                <a16:creationId xmlns:a16="http://schemas.microsoft.com/office/drawing/2014/main" id="{662B6CBD-FC60-883D-ECC5-709102054C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665" y="37033"/>
            <a:ext cx="3470335" cy="689927"/>
          </a:xfrm>
          <a:prstGeom prst="rect">
            <a:avLst/>
          </a:prstGeom>
        </p:spPr>
      </p:pic>
      <p:pic>
        <p:nvPicPr>
          <p:cNvPr id="15" name="Picture 14">
            <a:extLst>
              <a:ext uri="{FF2B5EF4-FFF2-40B4-BE49-F238E27FC236}">
                <a16:creationId xmlns:a16="http://schemas.microsoft.com/office/drawing/2014/main" id="{7C95BC4B-07DC-1308-34B8-8283C9251437}"/>
              </a:ext>
            </a:extLst>
          </p:cNvPr>
          <p:cNvPicPr>
            <a:picLocks noChangeAspect="1"/>
          </p:cNvPicPr>
          <p:nvPr/>
        </p:nvPicPr>
        <p:blipFill>
          <a:blip r:embed="rId4"/>
          <a:stretch>
            <a:fillRect/>
          </a:stretch>
        </p:blipFill>
        <p:spPr>
          <a:xfrm>
            <a:off x="0" y="5704366"/>
            <a:ext cx="1153634" cy="1153634"/>
          </a:xfrm>
          <a:prstGeom prst="rect">
            <a:avLst/>
          </a:prstGeom>
        </p:spPr>
      </p:pic>
      <p:sp>
        <p:nvSpPr>
          <p:cNvPr id="3" name="TextBox 2">
            <a:extLst>
              <a:ext uri="{FF2B5EF4-FFF2-40B4-BE49-F238E27FC236}">
                <a16:creationId xmlns:a16="http://schemas.microsoft.com/office/drawing/2014/main" id="{169AA5C5-2DC3-5120-FE66-8B26BD74339F}"/>
              </a:ext>
            </a:extLst>
          </p:cNvPr>
          <p:cNvSpPr txBox="1"/>
          <p:nvPr/>
        </p:nvSpPr>
        <p:spPr>
          <a:xfrm>
            <a:off x="754445" y="0"/>
            <a:ext cx="11369921" cy="6454139"/>
          </a:xfrm>
          <a:prstGeom prst="rect">
            <a:avLst/>
          </a:prstGeom>
          <a:noFill/>
        </p:spPr>
        <p:txBody>
          <a:bodyPr wrap="square" rtlCol="0">
            <a:spAutoFit/>
          </a:bodyPr>
          <a:lstStyle/>
          <a:p>
            <a:pPr>
              <a:lnSpc>
                <a:spcPct val="150000"/>
              </a:lnSpc>
            </a:pPr>
            <a:endParaRPr lang="en-IN" sz="1800" dirty="0">
              <a:latin typeface="Times New Roman" panose="02020603050405020304" pitchFamily="18" charset="0"/>
              <a:cs typeface="Times New Roman" panose="02020603050405020304" pitchFamily="18" charset="0"/>
            </a:endParaRPr>
          </a:p>
          <a:p>
            <a:pPr>
              <a:lnSpc>
                <a:spcPct val="150000"/>
              </a:lnSpc>
            </a:pPr>
            <a:r>
              <a:rPr lang="en-US" sz="2000" b="1"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Conclusion and Future Scope:</a:t>
            </a:r>
          </a:p>
          <a:p>
            <a:pPr marL="342900" indent="-342900" algn="just">
              <a:lnSpc>
                <a:spcPct val="150000"/>
              </a:lnSpc>
              <a:buFont typeface="Wingdings" panose="05000000000000000000" pitchFamily="2" charset="2"/>
              <a:buChar char="v"/>
            </a:pPr>
            <a:r>
              <a:rPr lang="en-US" sz="2000"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Developed a decentralized NFT marketplace for secure digital asset and event ticket trading.</a:t>
            </a:r>
          </a:p>
          <a:p>
            <a:pPr marL="342900" indent="-342900" algn="just">
              <a:lnSpc>
                <a:spcPct val="150000"/>
              </a:lnSpc>
              <a:buFont typeface="Wingdings" panose="05000000000000000000" pitchFamily="2" charset="2"/>
              <a:buChar char="v"/>
            </a:pPr>
            <a:r>
              <a:rPr lang="en-US" sz="2000"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Implemented smart contracts for NFT minting, ownership verification, and transactions.</a:t>
            </a:r>
          </a:p>
          <a:p>
            <a:pPr marL="342900" indent="-342900" algn="just">
              <a:lnSpc>
                <a:spcPct val="150000"/>
              </a:lnSpc>
              <a:buFont typeface="Wingdings" panose="05000000000000000000" pitchFamily="2" charset="2"/>
              <a:buChar char="v"/>
            </a:pPr>
            <a:r>
              <a:rPr lang="en-US" sz="2000"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Used MetaMask wallet authentication for secure and decentralized user access.</a:t>
            </a:r>
          </a:p>
          <a:p>
            <a:pPr marL="342900" indent="-342900" algn="just">
              <a:lnSpc>
                <a:spcPct val="150000"/>
              </a:lnSpc>
              <a:buFont typeface="Wingdings" panose="05000000000000000000" pitchFamily="2" charset="2"/>
              <a:buChar char="v"/>
            </a:pPr>
            <a:r>
              <a:rPr lang="en-US" sz="2000"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Applied hybrid storage (Blockchain + MongoDB) for efficient data management.</a:t>
            </a:r>
          </a:p>
          <a:p>
            <a:pPr marL="342900" indent="-342900" algn="just">
              <a:lnSpc>
                <a:spcPct val="150000"/>
              </a:lnSpc>
              <a:buFont typeface="Wingdings" panose="05000000000000000000" pitchFamily="2" charset="2"/>
              <a:buChar char="v"/>
            </a:pPr>
            <a:r>
              <a:rPr lang="en-US" sz="2000"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The system ensures transparency, security, and trustless transactions.</a:t>
            </a:r>
          </a:p>
          <a:p>
            <a:pPr marL="342900" indent="-342900" algn="just">
              <a:lnSpc>
                <a:spcPct val="150000"/>
              </a:lnSpc>
              <a:buFont typeface="Wingdings" panose="05000000000000000000" pitchFamily="2" charset="2"/>
              <a:buChar char="v"/>
            </a:pPr>
            <a:r>
              <a:rPr lang="en-US" sz="2000"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Integrate decentralized storage systems (IPFS) for better asset storage.</a:t>
            </a:r>
          </a:p>
          <a:p>
            <a:pPr marL="342900" indent="-342900" algn="just">
              <a:lnSpc>
                <a:spcPct val="150000"/>
              </a:lnSpc>
              <a:buFont typeface="Wingdings" panose="05000000000000000000" pitchFamily="2" charset="2"/>
              <a:buChar char="v"/>
            </a:pPr>
            <a:r>
              <a:rPr lang="en-US" sz="2000"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Add multi-blockchain support such as Ethereum, Polygon, and Solana.</a:t>
            </a:r>
          </a:p>
          <a:p>
            <a:pPr marL="342900" indent="-342900" algn="just">
              <a:lnSpc>
                <a:spcPct val="150000"/>
              </a:lnSpc>
              <a:buFont typeface="Wingdings" panose="05000000000000000000" pitchFamily="2" charset="2"/>
              <a:buChar char="v"/>
            </a:pPr>
            <a:r>
              <a:rPr lang="en-US" sz="2000"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Develop mobile applications for improved user accessibility.</a:t>
            </a:r>
          </a:p>
          <a:p>
            <a:pPr marL="342900" indent="-342900" algn="just">
              <a:lnSpc>
                <a:spcPct val="150000"/>
              </a:lnSpc>
              <a:buFont typeface="Wingdings" panose="05000000000000000000" pitchFamily="2" charset="2"/>
              <a:buChar char="v"/>
            </a:pPr>
            <a:r>
              <a:rPr lang="en-US" sz="2000"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Implement AI-based recommendation systems for NFT discovery.</a:t>
            </a:r>
          </a:p>
          <a:p>
            <a:pPr marL="342900" indent="-342900" algn="just">
              <a:lnSpc>
                <a:spcPct val="150000"/>
              </a:lnSpc>
              <a:buFont typeface="Wingdings" panose="05000000000000000000" pitchFamily="2" charset="2"/>
              <a:buChar char="v"/>
            </a:pPr>
            <a:r>
              <a:rPr lang="en-US" sz="2000"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Enhance security with smart contract auditing and fraud detection.</a:t>
            </a:r>
          </a:p>
          <a:p>
            <a:pPr marL="342900" indent="-342900" algn="just">
              <a:lnSpc>
                <a:spcPct val="150000"/>
              </a:lnSpc>
              <a:buFont typeface="Wingdings" panose="05000000000000000000" pitchFamily="2" charset="2"/>
              <a:buChar char="v"/>
            </a:pPr>
            <a:endParaRPr lang="en-US" sz="2000"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a:lnSpc>
                <a:spcPct val="150000"/>
              </a:lnSpc>
            </a:pPr>
            <a:endParaRPr lang="en-US" sz="2000"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spTree>
    <p:extLst>
      <p:ext uri="{BB962C8B-B14F-4D97-AF65-F5344CB8AC3E}">
        <p14:creationId xmlns:p14="http://schemas.microsoft.com/office/powerpoint/2010/main" val="29979377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a:xfrm>
            <a:off x="10456832" y="6386173"/>
            <a:ext cx="1312025" cy="365125"/>
          </a:xfrm>
        </p:spPr>
        <p:txBody>
          <a:bodyPr/>
          <a:lstStyle/>
          <a:p>
            <a:fld id="{50C91C40-65BD-436B-B794-CF89343271EF}" type="slidenum">
              <a:rPr lang="en-US" sz="2000" smtClean="0"/>
              <a:t>26</a:t>
            </a:fld>
            <a:endParaRPr lang="en-US" sz="2000" dirty="0"/>
          </a:p>
        </p:txBody>
      </p:sp>
      <p:sp>
        <p:nvSpPr>
          <p:cNvPr id="5" name="Footer Placeholder 4"/>
          <p:cNvSpPr>
            <a:spLocks noGrp="1"/>
          </p:cNvSpPr>
          <p:nvPr>
            <p:ph type="ftr" sz="quarter" idx="11"/>
          </p:nvPr>
        </p:nvSpPr>
        <p:spPr>
          <a:xfrm>
            <a:off x="1069431" y="6386173"/>
            <a:ext cx="9136023" cy="356382"/>
          </a:xfrm>
        </p:spPr>
        <p:txBody>
          <a:bodyPr/>
          <a:lstStyle/>
          <a:p>
            <a:pPr algn="l"/>
            <a:r>
              <a:rPr lang="en-US" sz="2000" dirty="0"/>
              <a:t>DEPARTMENT OF COMPUTER SCIENCE AND ENGINEERING</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665" y="37033"/>
            <a:ext cx="3470335" cy="689927"/>
          </a:xfrm>
          <a:prstGeom prst="rect">
            <a:avLst/>
          </a:prstGeom>
        </p:spPr>
      </p:pic>
      <p:pic>
        <p:nvPicPr>
          <p:cNvPr id="15" name="Picture 14"/>
          <p:cNvPicPr>
            <a:picLocks noChangeAspect="1"/>
          </p:cNvPicPr>
          <p:nvPr/>
        </p:nvPicPr>
        <p:blipFill>
          <a:blip r:embed="rId4"/>
          <a:stretch>
            <a:fillRect/>
          </a:stretch>
        </p:blipFill>
        <p:spPr>
          <a:xfrm>
            <a:off x="0" y="5704366"/>
            <a:ext cx="1153634" cy="1153634"/>
          </a:xfrm>
          <a:prstGeom prst="rect">
            <a:avLst/>
          </a:prstGeom>
        </p:spPr>
      </p:pic>
      <p:sp>
        <p:nvSpPr>
          <p:cNvPr id="3" name="TextBox 2"/>
          <p:cNvSpPr txBox="1"/>
          <p:nvPr/>
        </p:nvSpPr>
        <p:spPr>
          <a:xfrm>
            <a:off x="153415" y="716037"/>
            <a:ext cx="11885169" cy="4647426"/>
          </a:xfrm>
          <a:prstGeom prst="rect">
            <a:avLst/>
          </a:prstGeom>
          <a:noFill/>
        </p:spPr>
        <p:txBody>
          <a:bodyPr wrap="square" rtlCol="0">
            <a:spAutoFit/>
          </a:bodyPr>
          <a:lstStyle/>
          <a:p>
            <a:pPr marR="0" lvl="0" algn="l" rtl="0">
              <a:lnSpc>
                <a:spcPct val="150000"/>
              </a:lnSpc>
              <a:spcBef>
                <a:spcPts val="0"/>
              </a:spcBef>
              <a:spcAft>
                <a:spcPts val="0"/>
              </a:spcAft>
              <a:buClr>
                <a:srgbClr val="FF0000"/>
              </a:buClr>
            </a:pPr>
            <a:r>
              <a:rPr lang="en-US" sz="24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References:-</a:t>
            </a:r>
          </a:p>
          <a:p>
            <a:pPr marL="342900" lvl="0" indent="-342900" algn="just" eaLnBrk="0" fontAlgn="base" hangingPunct="0">
              <a:spcBef>
                <a:spcPct val="0"/>
              </a:spcBef>
              <a:spcAft>
                <a:spcPct val="0"/>
              </a:spcAft>
              <a:buClrTx/>
              <a:buFont typeface="Wingdings" panose="05000000000000000000" pitchFamily="2" charset="2"/>
              <a:buChar char="v"/>
            </a:pPr>
            <a:r>
              <a:rPr lang="en-US" altLang="en-US" sz="2000" dirty="0">
                <a:solidFill>
                  <a:schemeClr val="tx1"/>
                </a:solidFill>
                <a:latin typeface="Times New Roman" panose="02020603050405020304" pitchFamily="18" charset="0"/>
                <a:cs typeface="Times New Roman" panose="02020603050405020304" pitchFamily="18" charset="0"/>
              </a:rPr>
              <a:t>Entriken, W., Shirley, D., Evans, J., &amp; Sachs, N. (2021). ERC-721 Non-Fungible Token Standard. Ethereum Improvement Proposal (EIP-721).</a:t>
            </a:r>
          </a:p>
          <a:p>
            <a:pPr marL="342900" lvl="0" indent="-342900" algn="just" eaLnBrk="0" fontAlgn="base" hangingPunct="0">
              <a:spcBef>
                <a:spcPct val="0"/>
              </a:spcBef>
              <a:spcAft>
                <a:spcPct val="0"/>
              </a:spcAft>
              <a:buClrTx/>
              <a:buFont typeface="Wingdings" panose="05000000000000000000" pitchFamily="2" charset="2"/>
              <a:buChar char="v"/>
            </a:pPr>
            <a:r>
              <a:rPr lang="en-US" altLang="en-US" sz="2000" dirty="0">
                <a:solidFill>
                  <a:schemeClr val="tx1"/>
                </a:solidFill>
                <a:latin typeface="Times New Roman" panose="02020603050405020304" pitchFamily="18" charset="0"/>
                <a:cs typeface="Times New Roman" panose="02020603050405020304" pitchFamily="18" charset="0"/>
              </a:rPr>
              <a:t>Szabo, N. (2020). Blockchain-Based Smart Contracts for Digital Assets. IEEE Access.</a:t>
            </a:r>
          </a:p>
          <a:p>
            <a:pPr marL="342900" lvl="0" indent="-342900" algn="just" eaLnBrk="0" fontAlgn="base" hangingPunct="0">
              <a:spcBef>
                <a:spcPct val="0"/>
              </a:spcBef>
              <a:spcAft>
                <a:spcPct val="0"/>
              </a:spcAft>
              <a:buClrTx/>
              <a:buFont typeface="Wingdings" panose="05000000000000000000" pitchFamily="2" charset="2"/>
              <a:buChar char="v"/>
            </a:pPr>
            <a:r>
              <a:rPr lang="en-US" altLang="en-US" sz="2000" dirty="0" err="1">
                <a:solidFill>
                  <a:schemeClr val="tx1"/>
                </a:solidFill>
                <a:latin typeface="Times New Roman" panose="02020603050405020304" pitchFamily="18" charset="0"/>
                <a:cs typeface="Times New Roman" panose="02020603050405020304" pitchFamily="18" charset="0"/>
              </a:rPr>
              <a:t>Nadini</a:t>
            </a:r>
            <a:r>
              <a:rPr lang="en-US" altLang="en-US" sz="2000" dirty="0">
                <a:solidFill>
                  <a:schemeClr val="tx1"/>
                </a:solidFill>
                <a:latin typeface="Times New Roman" panose="02020603050405020304" pitchFamily="18" charset="0"/>
                <a:cs typeface="Times New Roman" panose="02020603050405020304" pitchFamily="18" charset="0"/>
              </a:rPr>
              <a:t>, M., </a:t>
            </a:r>
            <a:r>
              <a:rPr lang="en-US" altLang="en-US" sz="2000" dirty="0" err="1">
                <a:solidFill>
                  <a:schemeClr val="tx1"/>
                </a:solidFill>
                <a:latin typeface="Times New Roman" panose="02020603050405020304" pitchFamily="18" charset="0"/>
                <a:cs typeface="Times New Roman" panose="02020603050405020304" pitchFamily="18" charset="0"/>
              </a:rPr>
              <a:t>Alessandretti</a:t>
            </a:r>
            <a:r>
              <a:rPr lang="en-US" altLang="en-US" sz="2000" dirty="0">
                <a:solidFill>
                  <a:schemeClr val="tx1"/>
                </a:solidFill>
                <a:latin typeface="Times New Roman" panose="02020603050405020304" pitchFamily="18" charset="0"/>
                <a:cs typeface="Times New Roman" panose="02020603050405020304" pitchFamily="18" charset="0"/>
              </a:rPr>
              <a:t>, L., Di Giacinto, F., Martino, M., Aiello, L. M., &amp; </a:t>
            </a:r>
            <a:r>
              <a:rPr lang="en-US" altLang="en-US" sz="2000" dirty="0" err="1">
                <a:solidFill>
                  <a:schemeClr val="tx1"/>
                </a:solidFill>
                <a:latin typeface="Times New Roman" panose="02020603050405020304" pitchFamily="18" charset="0"/>
                <a:cs typeface="Times New Roman" panose="02020603050405020304" pitchFamily="18" charset="0"/>
              </a:rPr>
              <a:t>Baronchelli</a:t>
            </a:r>
            <a:r>
              <a:rPr lang="en-US" altLang="en-US" sz="2000" dirty="0">
                <a:solidFill>
                  <a:schemeClr val="tx1"/>
                </a:solidFill>
                <a:latin typeface="Times New Roman" panose="02020603050405020304" pitchFamily="18" charset="0"/>
                <a:cs typeface="Times New Roman" panose="02020603050405020304" pitchFamily="18" charset="0"/>
              </a:rPr>
              <a:t>, A. (2022). Mapping the NFT Revolution. Nature Scientific Reports.</a:t>
            </a:r>
          </a:p>
          <a:p>
            <a:pPr marL="342900" lvl="0" indent="-342900" algn="just" eaLnBrk="0" fontAlgn="base" hangingPunct="0">
              <a:spcBef>
                <a:spcPct val="0"/>
              </a:spcBef>
              <a:spcAft>
                <a:spcPct val="0"/>
              </a:spcAft>
              <a:buClrTx/>
              <a:buFont typeface="Wingdings" panose="05000000000000000000" pitchFamily="2" charset="2"/>
              <a:buChar char="v"/>
            </a:pPr>
            <a:r>
              <a:rPr lang="en-US" altLang="en-US" sz="2000" dirty="0">
                <a:solidFill>
                  <a:schemeClr val="tx1"/>
                </a:solidFill>
                <a:latin typeface="Times New Roman" panose="02020603050405020304" pitchFamily="18" charset="0"/>
                <a:cs typeface="Times New Roman" panose="02020603050405020304" pitchFamily="18" charset="0"/>
              </a:rPr>
              <a:t>Dowling, M. (2022). Is Non-Fungible Token Pricing Driven by Cryptocurrencies?. Finance Research Letters.</a:t>
            </a:r>
          </a:p>
          <a:p>
            <a:pPr marL="342900" lvl="0" indent="-342900" algn="just" eaLnBrk="0" fontAlgn="base" hangingPunct="0">
              <a:spcBef>
                <a:spcPct val="0"/>
              </a:spcBef>
              <a:spcAft>
                <a:spcPct val="0"/>
              </a:spcAft>
              <a:buClrTx/>
              <a:buFont typeface="Wingdings" panose="05000000000000000000" pitchFamily="2" charset="2"/>
              <a:buChar char="v"/>
            </a:pPr>
            <a:r>
              <a:rPr lang="en-US" altLang="en-US" sz="2000" dirty="0">
                <a:solidFill>
                  <a:schemeClr val="tx1"/>
                </a:solidFill>
                <a:latin typeface="Times New Roman" panose="02020603050405020304" pitchFamily="18" charset="0"/>
                <a:cs typeface="Times New Roman" panose="02020603050405020304" pitchFamily="18" charset="0"/>
              </a:rPr>
              <a:t>Ethereum Foundation. (2023). Ethereum Official Documentation. Ethereum.org.</a:t>
            </a:r>
          </a:p>
          <a:p>
            <a:pPr marL="342900" lvl="0" indent="-342900" algn="just" eaLnBrk="0" fontAlgn="base" hangingPunct="0">
              <a:spcBef>
                <a:spcPct val="0"/>
              </a:spcBef>
              <a:spcAft>
                <a:spcPct val="0"/>
              </a:spcAft>
              <a:buClrTx/>
              <a:buFont typeface="Wingdings" panose="05000000000000000000" pitchFamily="2" charset="2"/>
              <a:buChar char="v"/>
            </a:pPr>
            <a:r>
              <a:rPr lang="en-US" altLang="en-US" sz="2000" dirty="0">
                <a:solidFill>
                  <a:schemeClr val="tx1"/>
                </a:solidFill>
                <a:latin typeface="Times New Roman" panose="02020603050405020304" pitchFamily="18" charset="0"/>
                <a:cs typeface="Times New Roman" panose="02020603050405020304" pitchFamily="18" charset="0"/>
              </a:rPr>
              <a:t>Solidity Team. (2023). Solidity Programming Language Documentation. Soliditylang.org.</a:t>
            </a:r>
          </a:p>
          <a:p>
            <a:pPr marL="342900" lvl="0" indent="-342900" algn="just" eaLnBrk="0" fontAlgn="base" hangingPunct="0">
              <a:spcBef>
                <a:spcPct val="0"/>
              </a:spcBef>
              <a:spcAft>
                <a:spcPct val="0"/>
              </a:spcAft>
              <a:buClrTx/>
              <a:buFont typeface="Wingdings" panose="05000000000000000000" pitchFamily="2" charset="2"/>
              <a:buChar char="v"/>
            </a:pPr>
            <a:r>
              <a:rPr lang="en-US" altLang="en-US" sz="2000" dirty="0" err="1">
                <a:solidFill>
                  <a:schemeClr val="tx1"/>
                </a:solidFill>
                <a:latin typeface="Times New Roman" panose="02020603050405020304" pitchFamily="18" charset="0"/>
                <a:cs typeface="Times New Roman" panose="02020603050405020304" pitchFamily="18" charset="0"/>
              </a:rPr>
              <a:t>OpenSea</a:t>
            </a:r>
            <a:r>
              <a:rPr lang="en-US" altLang="en-US" sz="2000" dirty="0">
                <a:solidFill>
                  <a:schemeClr val="tx1"/>
                </a:solidFill>
                <a:latin typeface="Times New Roman" panose="02020603050405020304" pitchFamily="18" charset="0"/>
                <a:cs typeface="Times New Roman" panose="02020603050405020304" pitchFamily="18" charset="0"/>
              </a:rPr>
              <a:t>. (2023). </a:t>
            </a:r>
            <a:r>
              <a:rPr lang="en-US" altLang="en-US" sz="2000" dirty="0" err="1">
                <a:solidFill>
                  <a:schemeClr val="tx1"/>
                </a:solidFill>
                <a:latin typeface="Times New Roman" panose="02020603050405020304" pitchFamily="18" charset="0"/>
                <a:cs typeface="Times New Roman" panose="02020603050405020304" pitchFamily="18" charset="0"/>
              </a:rPr>
              <a:t>OpenSea</a:t>
            </a:r>
            <a:r>
              <a:rPr lang="en-US" altLang="en-US" sz="2000" dirty="0">
                <a:solidFill>
                  <a:schemeClr val="tx1"/>
                </a:solidFill>
                <a:latin typeface="Times New Roman" panose="02020603050405020304" pitchFamily="18" charset="0"/>
                <a:cs typeface="Times New Roman" panose="02020603050405020304" pitchFamily="18" charset="0"/>
              </a:rPr>
              <a:t> Developer Documentation. </a:t>
            </a:r>
            <a:r>
              <a:rPr lang="en-US" altLang="en-US" sz="2000" dirty="0" err="1">
                <a:solidFill>
                  <a:schemeClr val="tx1"/>
                </a:solidFill>
                <a:latin typeface="Times New Roman" panose="02020603050405020304" pitchFamily="18" charset="0"/>
                <a:cs typeface="Times New Roman" panose="02020603050405020304" pitchFamily="18" charset="0"/>
              </a:rPr>
              <a:t>OpenSea</a:t>
            </a:r>
            <a:r>
              <a:rPr lang="en-US" altLang="en-US" sz="2000" dirty="0">
                <a:solidFill>
                  <a:schemeClr val="tx1"/>
                </a:solidFill>
                <a:latin typeface="Times New Roman" panose="02020603050405020304" pitchFamily="18" charset="0"/>
                <a:cs typeface="Times New Roman" panose="02020603050405020304" pitchFamily="18" charset="0"/>
              </a:rPr>
              <a:t> Docs.</a:t>
            </a:r>
          </a:p>
          <a:p>
            <a:pPr marL="342900" lvl="0" indent="-342900" algn="just" eaLnBrk="0" fontAlgn="base" hangingPunct="0">
              <a:spcBef>
                <a:spcPct val="0"/>
              </a:spcBef>
              <a:spcAft>
                <a:spcPct val="0"/>
              </a:spcAft>
              <a:buClrTx/>
              <a:buFont typeface="Wingdings" panose="05000000000000000000" pitchFamily="2" charset="2"/>
              <a:buChar char="v"/>
            </a:pPr>
            <a:r>
              <a:rPr lang="en-US" altLang="en-US" sz="2000" dirty="0">
                <a:solidFill>
                  <a:schemeClr val="tx1"/>
                </a:solidFill>
                <a:latin typeface="Times New Roman" panose="02020603050405020304" pitchFamily="18" charset="0"/>
                <a:cs typeface="Times New Roman" panose="02020603050405020304" pitchFamily="18" charset="0"/>
              </a:rPr>
              <a:t>MongoDB Inc. (2023). MongoDB Official Documentation. MongoDB Manual.</a:t>
            </a:r>
          </a:p>
          <a:p>
            <a:pPr marL="342900" lvl="0" indent="-342900" algn="just" eaLnBrk="0" fontAlgn="base" hangingPunct="0">
              <a:spcBef>
                <a:spcPct val="0"/>
              </a:spcBef>
              <a:spcAft>
                <a:spcPct val="0"/>
              </a:spcAft>
              <a:buClrTx/>
              <a:buFont typeface="Wingdings" panose="05000000000000000000" pitchFamily="2" charset="2"/>
              <a:buChar char="v"/>
            </a:pPr>
            <a:r>
              <a:rPr lang="en-US" altLang="en-US" sz="2000" dirty="0">
                <a:solidFill>
                  <a:schemeClr val="tx1"/>
                </a:solidFill>
                <a:latin typeface="Times New Roman" panose="02020603050405020304" pitchFamily="18" charset="0"/>
                <a:cs typeface="Times New Roman" panose="02020603050405020304" pitchFamily="18" charset="0"/>
              </a:rPr>
              <a:t>Buterin, V. (2024). A Next-Generation Smart Contract and Decentralized Application Platform. Ethereum Whitepaper.</a:t>
            </a:r>
          </a:p>
          <a:p>
            <a:pPr marL="342900" lvl="0" indent="-342900" algn="just" eaLnBrk="0" fontAlgn="base" hangingPunct="0">
              <a:spcBef>
                <a:spcPct val="0"/>
              </a:spcBef>
              <a:spcAft>
                <a:spcPct val="0"/>
              </a:spcAft>
              <a:buClrTx/>
              <a:buFont typeface="Wingdings" panose="05000000000000000000" pitchFamily="2" charset="2"/>
              <a:buChar char="v"/>
            </a:pPr>
            <a:r>
              <a:rPr lang="en-US" altLang="en-US" sz="2000" dirty="0">
                <a:solidFill>
                  <a:schemeClr val="tx1"/>
                </a:solidFill>
                <a:latin typeface="Times New Roman" panose="02020603050405020304" pitchFamily="18" charset="0"/>
                <a:cs typeface="Times New Roman" panose="02020603050405020304" pitchFamily="18" charset="0"/>
              </a:rPr>
              <a:t>Wood, G. (2025). Ethereum: A Secure </a:t>
            </a:r>
            <a:r>
              <a:rPr lang="en-US" altLang="en-US" sz="2000" dirty="0" err="1">
                <a:solidFill>
                  <a:schemeClr val="tx1"/>
                </a:solidFill>
                <a:latin typeface="Times New Roman" panose="02020603050405020304" pitchFamily="18" charset="0"/>
                <a:cs typeface="Times New Roman" panose="02020603050405020304" pitchFamily="18" charset="0"/>
              </a:rPr>
              <a:t>Decentralised</a:t>
            </a: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dirty="0" err="1">
                <a:solidFill>
                  <a:schemeClr val="tx1"/>
                </a:solidFill>
                <a:latin typeface="Times New Roman" panose="02020603050405020304" pitchFamily="18" charset="0"/>
                <a:cs typeface="Times New Roman" panose="02020603050405020304" pitchFamily="18" charset="0"/>
              </a:rPr>
              <a:t>Generalised</a:t>
            </a:r>
            <a:r>
              <a:rPr lang="en-US" altLang="en-US" sz="2000" dirty="0">
                <a:solidFill>
                  <a:schemeClr val="tx1"/>
                </a:solidFill>
                <a:latin typeface="Times New Roman" panose="02020603050405020304" pitchFamily="18" charset="0"/>
                <a:cs typeface="Times New Roman" panose="02020603050405020304" pitchFamily="18" charset="0"/>
              </a:rPr>
              <a:t> Transaction Ledger. Ethereum Yellow Paper.</a:t>
            </a:r>
            <a:endParaRPr lang="en-US" sz="24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a:xfrm>
            <a:off x="10456832" y="6386173"/>
            <a:ext cx="1312025" cy="365125"/>
          </a:xfrm>
        </p:spPr>
        <p:txBody>
          <a:bodyPr/>
          <a:lstStyle/>
          <a:p>
            <a:fld id="{50C91C40-65BD-436B-B794-CF89343271EF}" type="slidenum">
              <a:rPr lang="en-US" sz="2000" smtClean="0"/>
              <a:t>27</a:t>
            </a:fld>
            <a:endParaRPr lang="en-US" sz="2000" dirty="0"/>
          </a:p>
        </p:txBody>
      </p:sp>
      <p:sp>
        <p:nvSpPr>
          <p:cNvPr id="5" name="Footer Placeholder 4"/>
          <p:cNvSpPr>
            <a:spLocks noGrp="1"/>
          </p:cNvSpPr>
          <p:nvPr>
            <p:ph type="ftr" sz="quarter" idx="11"/>
          </p:nvPr>
        </p:nvSpPr>
        <p:spPr>
          <a:xfrm>
            <a:off x="1069431" y="6386173"/>
            <a:ext cx="9136023" cy="356382"/>
          </a:xfrm>
        </p:spPr>
        <p:txBody>
          <a:bodyPr/>
          <a:lstStyle/>
          <a:p>
            <a:pPr algn="l"/>
            <a:r>
              <a:rPr lang="en-US" sz="2000" dirty="0"/>
              <a:t>DEPARTMENT OF COMPUTER SCIENCE AND ENGINEERING</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665" y="37033"/>
            <a:ext cx="3470335" cy="689927"/>
          </a:xfrm>
          <a:prstGeom prst="rect">
            <a:avLst/>
          </a:prstGeom>
        </p:spPr>
      </p:pic>
      <p:pic>
        <p:nvPicPr>
          <p:cNvPr id="15" name="Picture 14"/>
          <p:cNvPicPr>
            <a:picLocks noChangeAspect="1"/>
          </p:cNvPicPr>
          <p:nvPr/>
        </p:nvPicPr>
        <p:blipFill>
          <a:blip r:embed="rId4"/>
          <a:stretch>
            <a:fillRect/>
          </a:stretch>
        </p:blipFill>
        <p:spPr>
          <a:xfrm>
            <a:off x="0" y="5704366"/>
            <a:ext cx="1153634" cy="1153634"/>
          </a:xfrm>
          <a:prstGeom prst="rect">
            <a:avLst/>
          </a:prstGeom>
        </p:spPr>
      </p:pic>
      <p:sp>
        <p:nvSpPr>
          <p:cNvPr id="3" name="TextBox 2"/>
          <p:cNvSpPr txBox="1"/>
          <p:nvPr/>
        </p:nvSpPr>
        <p:spPr>
          <a:xfrm>
            <a:off x="414626" y="2851290"/>
            <a:ext cx="10020870" cy="823752"/>
          </a:xfrm>
          <a:prstGeom prst="rect">
            <a:avLst/>
          </a:prstGeom>
          <a:noFill/>
        </p:spPr>
        <p:txBody>
          <a:bodyPr wrap="square" rtlCol="0">
            <a:spAutoFit/>
          </a:bodyPr>
          <a:lstStyle/>
          <a:p>
            <a:pPr marR="0" lvl="0" algn="ctr" rtl="0">
              <a:lnSpc>
                <a:spcPct val="150000"/>
              </a:lnSpc>
              <a:spcBef>
                <a:spcPts val="0"/>
              </a:spcBef>
              <a:spcAft>
                <a:spcPts val="0"/>
              </a:spcAft>
              <a:buClr>
                <a:srgbClr val="FF0000"/>
              </a:buClr>
            </a:pPr>
            <a:r>
              <a:rPr lang="en-US" sz="36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ThankYou!</a:t>
            </a: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3357</TotalTime>
  <Words>2137</Words>
  <Application>Microsoft Office PowerPoint</Application>
  <PresentationFormat>Widescreen</PresentationFormat>
  <Paragraphs>282</Paragraphs>
  <Slides>27</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Times New Roman</vt:lpstr>
      <vt:lpstr>Wingdings</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 MECH 05</dc:creator>
  <cp:lastModifiedBy>HI Eswar</cp:lastModifiedBy>
  <cp:revision>52</cp:revision>
  <cp:lastPrinted>2026-05-13T02:20:04Z</cp:lastPrinted>
  <dcterms:created xsi:type="dcterms:W3CDTF">2019-12-31T08:10:00Z</dcterms:created>
  <dcterms:modified xsi:type="dcterms:W3CDTF">2026-05-13T02:20:22Z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1033-12.2.0.20326</vt:lpwstr>
  </property>
  <property fmtid="{D5CDD505-2E9C-101B-9397-08002B2CF9AE}" pid="3" name="ICV">
    <vt:lpwstr>23F6C98E8B5E4FDEB40C779671CDB3CD_12</vt:lpwstr>
  </property>
</Properties>
</file>